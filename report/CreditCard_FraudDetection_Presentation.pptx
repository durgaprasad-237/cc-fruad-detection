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Transactions</c:v>
                </c:pt>
              </c:strCache>
            </c:strRef>
          </c:tx>
          <c:spPr>
            <a:solidFill>
              <a:srgbClr val="028090"/>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E63946"/>
              </a:solidFill>
              <a:effectLst/>
            </c:spPr>
          </c:dPt>
          <c:cat>
            <c:multiLvlStrRef>
              <c:f>Sheet1!$A$2:$A$3</c:f>
              <c:multiLvlStrCache>
                <c:ptCount val="2"/>
                <c:lvl>
                  <c:pt idx="0">
                    <c:v>Non-Fraud (99.48%)</c:v>
                  </c:pt>
                  <c:pt idx="1">
                    <c:v>Fraud (0.52%)</c:v>
                  </c:pt>
                </c:lvl>
              </c:multiLvlStrCache>
            </c:multiLvlStrRef>
          </c:cat>
          <c:val>
            <c:numRef>
              <c:f>Sheet1!$B$2:$B$3</c:f>
              <c:numCache>
                <c:formatCode>General</c:formatCode>
                <c:ptCount val="2"/>
                <c:pt idx="0">
                  <c:v>99.48</c:v>
                </c:pt>
                <c:pt idx="1">
                  <c:v>0.52</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4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F1 Score Progression</a:t>
            </a:r>
          </a:p>
        </c:rich>
      </c:tx>
      <c:layout/>
      <c:overlay val="0"/>
    </c:title>
    <c:autoTitleDeleted val="0"/>
    <c:plotArea>
      <c:layout/>
      <c:barChart>
        <c:barDir val="col"/>
        <c:grouping val="clustered"/>
        <c:varyColors val="0"/>
        <c:ser>
          <c:idx val="0"/>
          <c:order val="0"/>
          <c:tx>
            <c:strRef>
              <c:f>Sheet1!$B$1</c:f>
              <c:strCache>
                <c:ptCount val="1"/>
                <c:pt idx="0">
                  <c:v>F1 Score</c:v>
                </c:pt>
              </c:strCache>
            </c:strRef>
          </c:tx>
          <c:spPr>
            <a:solidFill>
              <a:srgbClr val="64748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64748B"/>
              </a:solidFill>
              <a:effectLst/>
            </c:spPr>
          </c:dPt>
          <c:dPt>
            <c:idx val="2"/>
            <c:invertIfNegative val="0"/>
            <c:bubble3D val="0"/>
            <c:spPr>
              <a:solidFill>
                <a:srgbClr val="64748B"/>
              </a:solidFill>
              <a:effectLst/>
            </c:spPr>
          </c:dPt>
          <c:dPt>
            <c:idx val="3"/>
            <c:invertIfNegative val="0"/>
            <c:bubble3D val="0"/>
            <c:spPr>
              <a:solidFill>
                <a:srgbClr val="F4A261"/>
              </a:solidFill>
              <a:effectLst/>
            </c:spPr>
          </c:dPt>
          <c:dPt>
            <c:idx val="4"/>
            <c:invertIfNegative val="0"/>
            <c:bubble3D val="0"/>
            <c:spPr>
              <a:solidFill>
                <a:srgbClr val="F4A261"/>
              </a:solidFill>
              <a:effectLst/>
            </c:spPr>
          </c:dPt>
          <c:dPt>
            <c:idx val="5"/>
            <c:invertIfNegative val="0"/>
            <c:bubble3D val="0"/>
            <c:spPr>
              <a:solidFill>
                <a:srgbClr val="028090"/>
              </a:solidFill>
              <a:effectLst/>
            </c:spPr>
          </c:dPt>
          <c:dPt>
            <c:idx val="6"/>
            <c:invertIfNegative val="0"/>
            <c:bubble3D val="0"/>
            <c:spPr>
              <a:solidFill>
                <a:srgbClr val="10B981"/>
              </a:solidFill>
              <a:effectLst/>
            </c:spPr>
          </c:dPt>
          <c:cat>
            <c:multiLvlStrRef>
              <c:f>Sheet1!$A$2:$A$8</c:f>
              <c:multiLvlStrCache>
                <c:ptCount val="7"/>
                <c:lvl>
                  <c:pt idx="0">
                    <c:v>Logistic
(CW)</c:v>
                  </c:pt>
                  <c:pt idx="1">
                    <c:v>RF
(CW)</c:v>
                  </c:pt>
                  <c:pt idx="2">
                    <c:v>RF
(SMOTE)</c:v>
                  </c:pt>
                  <c:pt idx="3">
                    <c:v>XGB
(Balance)</c:v>
                  </c:pt>
                  <c:pt idx="4">
                    <c:v>XGB
(SMOTE)</c:v>
                  </c:pt>
                  <c:pt idx="5">
                    <c:v>XGB+SMOTE
+SFM</c:v>
                  </c:pt>
                  <c:pt idx="6">
                    <c:v>XGB+SMOTE
+SFM+RSCV ★</c:v>
                  </c:pt>
                </c:lvl>
              </c:multiLvlStrCache>
            </c:multiLvlStrRef>
          </c:cat>
          <c:val>
            <c:numRef>
              <c:f>Sheet1!$B$2:$B$8</c:f>
              <c:numCache>
                <c:formatCode>General</c:formatCode>
                <c:ptCount val="7"/>
                <c:pt idx="0">
                  <c:v>0.05</c:v>
                </c:pt>
                <c:pt idx="1">
                  <c:v>0.08</c:v>
                </c:pt>
                <c:pt idx="2">
                  <c:v>0.1</c:v>
                </c:pt>
                <c:pt idx="3">
                  <c:v>0.192</c:v>
                </c:pt>
                <c:pt idx="4">
                  <c:v>0.299</c:v>
                </c:pt>
                <c:pt idx="5">
                  <c:v>0.436</c:v>
                </c:pt>
                <c:pt idx="6">
                  <c:v>0.538</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6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ROC-AUC Scores</a:t>
            </a:r>
          </a:p>
        </c:rich>
      </c:tx>
      <c:layout/>
      <c:overlay val="0"/>
    </c:title>
    <c:autoTitleDeleted val="0"/>
    <c:plotArea>
      <c:layout/>
      <c:barChart>
        <c:barDir val="bar"/>
        <c:grouping val="clustered"/>
        <c:varyColors val="0"/>
        <c:ser>
          <c:idx val="0"/>
          <c:order val="0"/>
          <c:tx>
            <c:strRef>
              <c:f>Sheet1!$B$1</c:f>
              <c:strCache>
                <c:ptCount val="1"/>
                <c:pt idx="0">
                  <c:v>AUC</c:v>
                </c:pt>
              </c:strCache>
            </c:strRef>
          </c:tx>
          <c:spPr>
            <a:solidFill>
              <a:srgbClr val="64748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64748B"/>
              </a:solidFill>
              <a:effectLst/>
            </c:spPr>
          </c:dPt>
          <c:dPt>
            <c:idx val="2"/>
            <c:invertIfNegative val="0"/>
            <c:bubble3D val="0"/>
            <c:spPr>
              <a:solidFill>
                <a:srgbClr val="64748B"/>
              </a:solidFill>
              <a:effectLst/>
            </c:spPr>
          </c:dPt>
          <c:dPt>
            <c:idx val="3"/>
            <c:invertIfNegative val="0"/>
            <c:bubble3D val="0"/>
            <c:spPr>
              <a:solidFill>
                <a:srgbClr val="F4A261"/>
              </a:solidFill>
              <a:effectLst/>
            </c:spPr>
          </c:dPt>
          <c:dPt>
            <c:idx val="4"/>
            <c:invertIfNegative val="0"/>
            <c:bubble3D val="0"/>
            <c:spPr>
              <a:solidFill>
                <a:srgbClr val="F4A261"/>
              </a:solidFill>
              <a:effectLst/>
            </c:spPr>
          </c:dPt>
          <c:dPt>
            <c:idx val="5"/>
            <c:invertIfNegative val="0"/>
            <c:bubble3D val="0"/>
            <c:spPr>
              <a:solidFill>
                <a:srgbClr val="028090"/>
              </a:solidFill>
              <a:effectLst/>
            </c:spPr>
          </c:dPt>
          <c:dPt>
            <c:idx val="6"/>
            <c:invertIfNegative val="0"/>
            <c:bubble3D val="0"/>
            <c:spPr>
              <a:solidFill>
                <a:srgbClr val="10B981"/>
              </a:solidFill>
              <a:effectLst/>
            </c:spPr>
          </c:dPt>
          <c:cat>
            <c:multiLvlStrRef>
              <c:f>Sheet1!$A$2:$A$8</c:f>
              <c:multiLvlStrCache>
                <c:ptCount val="7"/>
                <c:lvl>
                  <c:pt idx="0">
                    <c:v>Logistic</c:v>
                  </c:pt>
                  <c:pt idx="1">
                    <c:v>RF (CW)</c:v>
                  </c:pt>
                  <c:pt idx="2">
                    <c:v>RF (SMOTE)</c:v>
                  </c:pt>
                  <c:pt idx="3">
                    <c:v>XGB (Balance)</c:v>
                  </c:pt>
                  <c:pt idx="4">
                    <c:v>XGB (SMOTE)</c:v>
                  </c:pt>
                  <c:pt idx="5">
                    <c:v>XGB+SFM</c:v>
                  </c:pt>
                  <c:pt idx="6">
                    <c:v>XGB+SFM+RSCV ★</c:v>
                  </c:pt>
                </c:lvl>
              </c:multiLvlStrCache>
            </c:multiLvlStrRef>
          </c:cat>
          <c:val>
            <c:numRef>
              <c:f>Sheet1!$B$2:$B$8</c:f>
              <c:numCache>
                <c:formatCode>General</c:formatCode>
                <c:ptCount val="7"/>
                <c:pt idx="0">
                  <c:v>0.72</c:v>
                </c:pt>
                <c:pt idx="1">
                  <c:v>0.81</c:v>
                </c:pt>
                <c:pt idx="2">
                  <c:v>0.83</c:v>
                </c:pt>
                <c:pt idx="3">
                  <c:v>0.989</c:v>
                </c:pt>
                <c:pt idx="4">
                  <c:v>0.975</c:v>
                </c:pt>
                <c:pt idx="5">
                  <c:v>0.977</c:v>
                </c:pt>
                <c:pt idx="6">
                  <c:v>0.983</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2"/>
          <c:min val="0.6"/>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will walk you through our machine learning-based fraud detection system built for Finex Bank. We analyzed over 1.2 million transactions, built 7 models, and achieved an AUC of 0.983 with our best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agenda. We will cover the entire ML lifecycle from problem definition to financial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Finex Bank faces a critical challenge: detecting fraud in a dataset where only 0.52% of transactions are fraudulent. Standard accuracy metrics fail here — we need precision-recall tradeoffs and appropriate sampling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1.29M transactions with 23 features and zero missing values. The critical challenge is the extreme class imbalance: only 0.52% are fraud. We found fraud transactions tend to have higher amounts, and certain cities show higher fraud concentrations.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important EDA findings: Online shopping categories have the highest fraud rates, suggesting fraudsters prefer card-not-present transactions. Geographically, Clearwater and Aurora show 3%+ fraud rates, well above the 0.52%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EDA insights: Elderly customers are most vulnerable to fraud. Night-time transactions (10pm-5am) have a fraud rate of 1.65% vs 0.1% during daytime. Fraud transactions average $530.66 vs just $67.65 for legitimate ones — nearly 8x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was critical. We removed PII and non-informative columns, then created temporal features, customer age, and geographic distance using the Haversine formula. Log transformation fixed the heavy skewness in transaction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a systematic progression from a simple logistic regression baseline up to XGBoost with SMOTE, feature selection, and hyperparameter tuning. Each step was justified by measurable improvement in key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two main strategies for class imbalance. Class weights are simpler but SMOTE gave better results because it actually balances the training data, helping the model learn the fraud class patterns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progression. F1 score jumped from 0.05 with logistic regression to 0.538 with our best XGBoost model. Feature selection alone improved F1 from 0.299 to 0.436, and hyperparameter tuning pushed it to 0.538.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model achieved F1 of 0.538 and AUC of 0.983. Feature selection was key — reducing from 2193 to 184 features made the model faster and more generalizable. Hyperparameter tuning via RandomizedSearchCV delivered the final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Translating model performance into business value: Before the model, Finex Bank lost $426,651 every month to fraud. After deployment, the total cost drops to just $24,180/month — $300 in support costs plus $23,880 in missed fraud. Net monthly savings: $402,471. That is over $4.8 million saved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recommendations: deploy the best model, monitor key features, retrain quarterly, integrate real-time scoring, and use threshold tuning based on business needs. These steps will maximize the model's business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these five key takeaways. Emphasize the business value — $402,471 in monthly savings, over $4.83 million per year — and the methodological rigor: proper handling of class imbalance, feature engineering, and iterative model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28090"/>
          </a:solidFill>
          <a:ln w="12700">
            <a:solidFill>
              <a:srgbClr val="028090"/>
            </a:solidFill>
            <a:prstDash val="solid"/>
          </a:ln>
        </p:spPr>
      </p:sp>
      <p:sp>
        <p:nvSpPr>
          <p:cNvPr id="3" name="Shape 1"/>
          <p:cNvSpPr/>
          <p:nvPr/>
        </p:nvSpPr>
        <p:spPr>
          <a:xfrm>
            <a:off x="6217920" y="-914400"/>
            <a:ext cx="4114800" cy="4114800"/>
          </a:xfrm>
          <a:prstGeom prst="ellipse">
            <a:avLst/>
          </a:prstGeom>
          <a:solidFill>
            <a:srgbClr val="1A2E45">
              <a:alpha val="60000"/>
            </a:srgbClr>
          </a:solidFill>
          <a:ln w="25400">
            <a:solidFill>
              <a:srgbClr val="028090"/>
            </a:solidFill>
            <a:prstDash val="solid"/>
          </a:ln>
        </p:spPr>
      </p:sp>
      <p:sp>
        <p:nvSpPr>
          <p:cNvPr id="4" name="Text 2"/>
          <p:cNvSpPr/>
          <p:nvPr/>
        </p:nvSpPr>
        <p:spPr>
          <a:xfrm>
            <a:off x="640080" y="914400"/>
            <a:ext cx="685800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Credit Card Fraud</a:t>
            </a:r>
            <a:endParaRPr lang="en-US" sz="4200" dirty="0"/>
          </a:p>
        </p:txBody>
      </p:sp>
      <p:sp>
        <p:nvSpPr>
          <p:cNvPr id="5" name="Text 3"/>
          <p:cNvSpPr/>
          <p:nvPr/>
        </p:nvSpPr>
        <p:spPr>
          <a:xfrm>
            <a:off x="640080" y="1691640"/>
            <a:ext cx="6858000" cy="822960"/>
          </a:xfrm>
          <a:prstGeom prst="rect">
            <a:avLst/>
          </a:prstGeom>
          <a:noFill/>
          <a:ln/>
        </p:spPr>
        <p:txBody>
          <a:bodyPr wrap="square" lIns="0" tIns="0" rIns="0" bIns="0" rtlCol="0" anchor="ctr"/>
          <a:lstStyle/>
          <a:p>
            <a:pPr indent="0" marL="0">
              <a:buNone/>
            </a:pPr>
            <a:r>
              <a:rPr lang="en-US" sz="4200" b="1" dirty="0">
                <a:solidFill>
                  <a:srgbClr val="02C39A"/>
                </a:solidFill>
                <a:latin typeface="Calibri" pitchFamily="34" charset="0"/>
                <a:ea typeface="Calibri" pitchFamily="34" charset="-122"/>
                <a:cs typeface="Calibri" pitchFamily="34" charset="-120"/>
              </a:rPr>
              <a:t>Detection System</a:t>
            </a:r>
            <a:endParaRPr lang="en-US" sz="4200" dirty="0"/>
          </a:p>
        </p:txBody>
      </p:sp>
      <p:sp>
        <p:nvSpPr>
          <p:cNvPr id="6" name="Text 4"/>
          <p:cNvSpPr/>
          <p:nvPr/>
        </p:nvSpPr>
        <p:spPr>
          <a:xfrm>
            <a:off x="640080" y="2423160"/>
            <a:ext cx="6858000" cy="457200"/>
          </a:xfrm>
          <a:prstGeom prst="rect">
            <a:avLst/>
          </a:prstGeom>
          <a:noFill/>
          <a:ln/>
        </p:spPr>
        <p:txBody>
          <a:bodyPr wrap="square" lIns="0" tIns="0" rIns="0" bIns="0" rtlCol="0" anchor="ctr"/>
          <a:lstStyle/>
          <a:p>
            <a:pPr indent="0" marL="0">
              <a:buNone/>
            </a:pPr>
            <a:r>
              <a:rPr lang="en-US" sz="2200" dirty="0">
                <a:solidFill>
                  <a:srgbClr val="E2E8F0"/>
                </a:solidFill>
                <a:latin typeface="Calibri" pitchFamily="34" charset="0"/>
                <a:ea typeface="Calibri" pitchFamily="34" charset="-122"/>
                <a:cs typeface="Calibri" pitchFamily="34" charset="-120"/>
              </a:rPr>
              <a:t>Using Machine Learning</a:t>
            </a:r>
            <a:endParaRPr lang="en-US" sz="2200" dirty="0"/>
          </a:p>
        </p:txBody>
      </p:sp>
      <p:sp>
        <p:nvSpPr>
          <p:cNvPr id="7" name="Shape 5"/>
          <p:cNvSpPr/>
          <p:nvPr/>
        </p:nvSpPr>
        <p:spPr>
          <a:xfrm>
            <a:off x="640080" y="3017520"/>
            <a:ext cx="4114800" cy="36576"/>
          </a:xfrm>
          <a:prstGeom prst="rect">
            <a:avLst/>
          </a:prstGeom>
          <a:solidFill>
            <a:srgbClr val="028090"/>
          </a:solidFill>
          <a:ln w="12700">
            <a:solidFill>
              <a:srgbClr val="028090"/>
            </a:solidFill>
            <a:prstDash val="solid"/>
          </a:ln>
        </p:spPr>
      </p:sp>
      <p:sp>
        <p:nvSpPr>
          <p:cNvPr id="8" name="Text 6"/>
          <p:cNvSpPr/>
          <p:nvPr/>
        </p:nvSpPr>
        <p:spPr>
          <a:xfrm>
            <a:off x="640080" y="3246120"/>
            <a:ext cx="54864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Finex Bank  |  Fraud Analytics Division</a:t>
            </a:r>
            <a:endParaRPr lang="en-US" sz="1300" dirty="0"/>
          </a:p>
        </p:txBody>
      </p:sp>
      <p:sp>
        <p:nvSpPr>
          <p:cNvPr id="9" name="Text 7"/>
          <p:cNvSpPr/>
          <p:nvPr/>
        </p:nvSpPr>
        <p:spPr>
          <a:xfrm>
            <a:off x="640080" y="3611880"/>
            <a:ext cx="7315200" cy="320040"/>
          </a:xfrm>
          <a:prstGeom prst="rect">
            <a:avLst/>
          </a:prstGeom>
          <a:noFill/>
          <a:ln/>
        </p:spPr>
        <p:txBody>
          <a:bodyPr wrap="square" lIns="0" tIns="0" rIns="0" bIns="0" rtlCol="0" anchor="ctr"/>
          <a:lstStyle/>
          <a:p>
            <a:pPr indent="0" marL="0">
              <a:buNone/>
            </a:pPr>
            <a:r>
              <a:rPr lang="en-US" sz="1200" dirty="0">
                <a:solidFill>
                  <a:srgbClr val="02C39A"/>
                </a:solidFill>
                <a:latin typeface="Calibri" pitchFamily="34" charset="0"/>
                <a:ea typeface="Calibri" pitchFamily="34" charset="-122"/>
                <a:cs typeface="Calibri" pitchFamily="34" charset="-120"/>
              </a:rPr>
              <a:t>1,296,675 Transactions  •  7 Models Evaluated  •  AUC: 0.983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Agenda</a:t>
            </a:r>
            <a:endParaRPr lang="en-US" sz="2600" dirty="0"/>
          </a:p>
        </p:txBody>
      </p:sp>
      <p:sp>
        <p:nvSpPr>
          <p:cNvPr id="4" name="Shape 2"/>
          <p:cNvSpPr/>
          <p:nvPr/>
        </p:nvSpPr>
        <p:spPr>
          <a:xfrm>
            <a:off x="365760" y="1005840"/>
            <a:ext cx="4023360" cy="777240"/>
          </a:xfrm>
          <a:prstGeom prst="roundRect">
            <a:avLst>
              <a:gd name="adj" fmla="val 941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457200" y="1143000"/>
            <a:ext cx="502920" cy="502920"/>
          </a:xfrm>
          <a:prstGeom prst="ellipse">
            <a:avLst/>
          </a:prstGeom>
          <a:solidFill>
            <a:srgbClr val="028090"/>
          </a:solidFill>
          <a:ln w="12700">
            <a:solidFill>
              <a:srgbClr val="028090"/>
            </a:solidFill>
            <a:prstDash val="solid"/>
          </a:ln>
        </p:spPr>
      </p:sp>
      <p:sp>
        <p:nvSpPr>
          <p:cNvPr id="6" name="Text 4"/>
          <p:cNvSpPr/>
          <p:nvPr/>
        </p:nvSpPr>
        <p:spPr>
          <a:xfrm>
            <a:off x="457200" y="114300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51560" y="1060704"/>
            <a:ext cx="32461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Business Problem &amp; Objective</a:t>
            </a:r>
            <a:endParaRPr lang="en-US" sz="1200" dirty="0"/>
          </a:p>
        </p:txBody>
      </p:sp>
      <p:sp>
        <p:nvSpPr>
          <p:cNvPr id="8" name="Text 6"/>
          <p:cNvSpPr/>
          <p:nvPr/>
        </p:nvSpPr>
        <p:spPr>
          <a:xfrm>
            <a:off x="1051560" y="1371600"/>
            <a:ext cx="32461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Why fraud detection matters for Finex Bank</a:t>
            </a:r>
            <a:endParaRPr lang="en-US" sz="1000" dirty="0"/>
          </a:p>
        </p:txBody>
      </p:sp>
      <p:sp>
        <p:nvSpPr>
          <p:cNvPr id="9" name="Shape 7"/>
          <p:cNvSpPr/>
          <p:nvPr/>
        </p:nvSpPr>
        <p:spPr>
          <a:xfrm>
            <a:off x="365760" y="1965960"/>
            <a:ext cx="4023360" cy="777240"/>
          </a:xfrm>
          <a:prstGeom prst="roundRect">
            <a:avLst>
              <a:gd name="adj" fmla="val 941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0" name="Shape 8"/>
          <p:cNvSpPr/>
          <p:nvPr/>
        </p:nvSpPr>
        <p:spPr>
          <a:xfrm>
            <a:off x="457200" y="2103120"/>
            <a:ext cx="502920" cy="502920"/>
          </a:xfrm>
          <a:prstGeom prst="ellipse">
            <a:avLst/>
          </a:prstGeom>
          <a:solidFill>
            <a:srgbClr val="028090"/>
          </a:solidFill>
          <a:ln w="12700">
            <a:solidFill>
              <a:srgbClr val="028090"/>
            </a:solidFill>
            <a:prstDash val="solid"/>
          </a:ln>
        </p:spPr>
      </p:sp>
      <p:sp>
        <p:nvSpPr>
          <p:cNvPr id="11" name="Text 9"/>
          <p:cNvSpPr/>
          <p:nvPr/>
        </p:nvSpPr>
        <p:spPr>
          <a:xfrm>
            <a:off x="457200" y="210312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1051560" y="2020824"/>
            <a:ext cx="32461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Data Understanding &amp; EDA</a:t>
            </a:r>
            <a:endParaRPr lang="en-US" sz="1200" dirty="0"/>
          </a:p>
        </p:txBody>
      </p:sp>
      <p:sp>
        <p:nvSpPr>
          <p:cNvPr id="13" name="Text 11"/>
          <p:cNvSpPr/>
          <p:nvPr/>
        </p:nvSpPr>
        <p:spPr>
          <a:xfrm>
            <a:off x="1051560" y="2331720"/>
            <a:ext cx="32461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Dataset of 1.29M transactions, key insights</a:t>
            </a:r>
            <a:endParaRPr lang="en-US" sz="1000" dirty="0"/>
          </a:p>
        </p:txBody>
      </p:sp>
      <p:sp>
        <p:nvSpPr>
          <p:cNvPr id="14" name="Shape 12"/>
          <p:cNvSpPr/>
          <p:nvPr/>
        </p:nvSpPr>
        <p:spPr>
          <a:xfrm>
            <a:off x="365760" y="2926080"/>
            <a:ext cx="4023360" cy="777240"/>
          </a:xfrm>
          <a:prstGeom prst="roundRect">
            <a:avLst>
              <a:gd name="adj" fmla="val 941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457200" y="3063240"/>
            <a:ext cx="502920" cy="502920"/>
          </a:xfrm>
          <a:prstGeom prst="ellipse">
            <a:avLst/>
          </a:prstGeom>
          <a:solidFill>
            <a:srgbClr val="028090"/>
          </a:solidFill>
          <a:ln w="12700">
            <a:solidFill>
              <a:srgbClr val="028090"/>
            </a:solidFill>
            <a:prstDash val="solid"/>
          </a:ln>
        </p:spPr>
      </p:sp>
      <p:sp>
        <p:nvSpPr>
          <p:cNvPr id="16" name="Text 14"/>
          <p:cNvSpPr/>
          <p:nvPr/>
        </p:nvSpPr>
        <p:spPr>
          <a:xfrm>
            <a:off x="457200" y="306324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1051560" y="2980944"/>
            <a:ext cx="32461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Feature Engineering</a:t>
            </a:r>
            <a:endParaRPr lang="en-US" sz="1200" dirty="0"/>
          </a:p>
        </p:txBody>
      </p:sp>
      <p:sp>
        <p:nvSpPr>
          <p:cNvPr id="18" name="Text 16"/>
          <p:cNvSpPr/>
          <p:nvPr/>
        </p:nvSpPr>
        <p:spPr>
          <a:xfrm>
            <a:off x="1051560" y="3291840"/>
            <a:ext cx="32461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Creating time, distance, and behavioral features</a:t>
            </a:r>
            <a:endParaRPr lang="en-US" sz="1000" dirty="0"/>
          </a:p>
        </p:txBody>
      </p:sp>
      <p:sp>
        <p:nvSpPr>
          <p:cNvPr id="19" name="Shape 17"/>
          <p:cNvSpPr/>
          <p:nvPr/>
        </p:nvSpPr>
        <p:spPr>
          <a:xfrm>
            <a:off x="365760" y="3886200"/>
            <a:ext cx="4023360" cy="777240"/>
          </a:xfrm>
          <a:prstGeom prst="roundRect">
            <a:avLst>
              <a:gd name="adj" fmla="val 941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0" name="Shape 18"/>
          <p:cNvSpPr/>
          <p:nvPr/>
        </p:nvSpPr>
        <p:spPr>
          <a:xfrm>
            <a:off x="457200" y="4023360"/>
            <a:ext cx="502920" cy="502920"/>
          </a:xfrm>
          <a:prstGeom prst="ellipse">
            <a:avLst/>
          </a:prstGeom>
          <a:solidFill>
            <a:srgbClr val="028090"/>
          </a:solidFill>
          <a:ln w="12700">
            <a:solidFill>
              <a:srgbClr val="028090"/>
            </a:solidFill>
            <a:prstDash val="solid"/>
          </a:ln>
        </p:spPr>
      </p:sp>
      <p:sp>
        <p:nvSpPr>
          <p:cNvPr id="21" name="Text 19"/>
          <p:cNvSpPr/>
          <p:nvPr/>
        </p:nvSpPr>
        <p:spPr>
          <a:xfrm>
            <a:off x="457200" y="402336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1051560" y="3941064"/>
            <a:ext cx="32461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Model Building</a:t>
            </a:r>
            <a:endParaRPr lang="en-US" sz="1200" dirty="0"/>
          </a:p>
        </p:txBody>
      </p:sp>
      <p:sp>
        <p:nvSpPr>
          <p:cNvPr id="23" name="Text 21"/>
          <p:cNvSpPr/>
          <p:nvPr/>
        </p:nvSpPr>
        <p:spPr>
          <a:xfrm>
            <a:off x="1051560" y="4251960"/>
            <a:ext cx="32461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7 models: Logistic → Random Forest → XGBoost</a:t>
            </a:r>
            <a:endParaRPr lang="en-US" sz="1000" dirty="0"/>
          </a:p>
        </p:txBody>
      </p:sp>
      <p:sp>
        <p:nvSpPr>
          <p:cNvPr id="24" name="Shape 22"/>
          <p:cNvSpPr/>
          <p:nvPr/>
        </p:nvSpPr>
        <p:spPr>
          <a:xfrm>
            <a:off x="4754880" y="1005840"/>
            <a:ext cx="4023360" cy="777240"/>
          </a:xfrm>
          <a:prstGeom prst="roundRect">
            <a:avLst>
              <a:gd name="adj" fmla="val 941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4846320" y="1143000"/>
            <a:ext cx="502920" cy="502920"/>
          </a:xfrm>
          <a:prstGeom prst="ellipse">
            <a:avLst/>
          </a:prstGeom>
          <a:solidFill>
            <a:srgbClr val="028090"/>
          </a:solidFill>
          <a:ln w="12700">
            <a:solidFill>
              <a:srgbClr val="028090"/>
            </a:solidFill>
            <a:prstDash val="solid"/>
          </a:ln>
        </p:spPr>
      </p:sp>
      <p:sp>
        <p:nvSpPr>
          <p:cNvPr id="26" name="Text 24"/>
          <p:cNvSpPr/>
          <p:nvPr/>
        </p:nvSpPr>
        <p:spPr>
          <a:xfrm>
            <a:off x="4846320" y="114300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7" name="Text 25"/>
          <p:cNvSpPr/>
          <p:nvPr/>
        </p:nvSpPr>
        <p:spPr>
          <a:xfrm>
            <a:off x="5440680" y="1060704"/>
            <a:ext cx="32461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Model Evaluation</a:t>
            </a:r>
            <a:endParaRPr lang="en-US" sz="1200" dirty="0"/>
          </a:p>
        </p:txBody>
      </p:sp>
      <p:sp>
        <p:nvSpPr>
          <p:cNvPr id="28" name="Text 26"/>
          <p:cNvSpPr/>
          <p:nvPr/>
        </p:nvSpPr>
        <p:spPr>
          <a:xfrm>
            <a:off x="5440680" y="1371600"/>
            <a:ext cx="32461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Metrics, ROC-AUC, Precision-Recall tradeoffs</a:t>
            </a:r>
            <a:endParaRPr lang="en-US" sz="1000" dirty="0"/>
          </a:p>
        </p:txBody>
      </p:sp>
      <p:sp>
        <p:nvSpPr>
          <p:cNvPr id="29" name="Shape 27"/>
          <p:cNvSpPr/>
          <p:nvPr/>
        </p:nvSpPr>
        <p:spPr>
          <a:xfrm>
            <a:off x="4754880" y="1965960"/>
            <a:ext cx="4023360" cy="777240"/>
          </a:xfrm>
          <a:prstGeom prst="roundRect">
            <a:avLst>
              <a:gd name="adj" fmla="val 941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0" name="Shape 28"/>
          <p:cNvSpPr/>
          <p:nvPr/>
        </p:nvSpPr>
        <p:spPr>
          <a:xfrm>
            <a:off x="4846320" y="2103120"/>
            <a:ext cx="502920" cy="502920"/>
          </a:xfrm>
          <a:prstGeom prst="ellipse">
            <a:avLst/>
          </a:prstGeom>
          <a:solidFill>
            <a:srgbClr val="028090"/>
          </a:solidFill>
          <a:ln w="12700">
            <a:solidFill>
              <a:srgbClr val="028090"/>
            </a:solidFill>
            <a:prstDash val="solid"/>
          </a:ln>
        </p:spPr>
      </p:sp>
      <p:sp>
        <p:nvSpPr>
          <p:cNvPr id="31" name="Text 29"/>
          <p:cNvSpPr/>
          <p:nvPr/>
        </p:nvSpPr>
        <p:spPr>
          <a:xfrm>
            <a:off x="4846320" y="210312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p:nvPr/>
        </p:nvSpPr>
        <p:spPr>
          <a:xfrm>
            <a:off x="5440680" y="2020824"/>
            <a:ext cx="32461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Financial Impact</a:t>
            </a:r>
            <a:endParaRPr lang="en-US" sz="1200" dirty="0"/>
          </a:p>
        </p:txBody>
      </p:sp>
      <p:sp>
        <p:nvSpPr>
          <p:cNvPr id="33" name="Text 31"/>
          <p:cNvSpPr/>
          <p:nvPr/>
        </p:nvSpPr>
        <p:spPr>
          <a:xfrm>
            <a:off x="5440680" y="2331720"/>
            <a:ext cx="32461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Cost-benefit analysis and business savings</a:t>
            </a:r>
            <a:endParaRPr lang="en-US" sz="1000" dirty="0"/>
          </a:p>
        </p:txBody>
      </p:sp>
      <p:sp>
        <p:nvSpPr>
          <p:cNvPr id="34" name="Shape 32"/>
          <p:cNvSpPr/>
          <p:nvPr/>
        </p:nvSpPr>
        <p:spPr>
          <a:xfrm>
            <a:off x="4754880" y="2926080"/>
            <a:ext cx="4023360" cy="777240"/>
          </a:xfrm>
          <a:prstGeom prst="roundRect">
            <a:avLst>
              <a:gd name="adj" fmla="val 9412"/>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5" name="Shape 33"/>
          <p:cNvSpPr/>
          <p:nvPr/>
        </p:nvSpPr>
        <p:spPr>
          <a:xfrm>
            <a:off x="4846320" y="3063240"/>
            <a:ext cx="502920" cy="502920"/>
          </a:xfrm>
          <a:prstGeom prst="ellipse">
            <a:avLst/>
          </a:prstGeom>
          <a:solidFill>
            <a:srgbClr val="028090"/>
          </a:solidFill>
          <a:ln w="12700">
            <a:solidFill>
              <a:srgbClr val="028090"/>
            </a:solidFill>
            <a:prstDash val="solid"/>
          </a:ln>
        </p:spPr>
      </p:sp>
      <p:sp>
        <p:nvSpPr>
          <p:cNvPr id="36" name="Text 34"/>
          <p:cNvSpPr/>
          <p:nvPr/>
        </p:nvSpPr>
        <p:spPr>
          <a:xfrm>
            <a:off x="4846320" y="306324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7" name="Text 35"/>
          <p:cNvSpPr/>
          <p:nvPr/>
        </p:nvSpPr>
        <p:spPr>
          <a:xfrm>
            <a:off x="5440680" y="2980944"/>
            <a:ext cx="32461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Recommendations</a:t>
            </a:r>
            <a:endParaRPr lang="en-US" sz="1200" dirty="0"/>
          </a:p>
        </p:txBody>
      </p:sp>
      <p:sp>
        <p:nvSpPr>
          <p:cNvPr id="38" name="Text 36"/>
          <p:cNvSpPr/>
          <p:nvPr/>
        </p:nvSpPr>
        <p:spPr>
          <a:xfrm>
            <a:off x="5440680" y="3291840"/>
            <a:ext cx="324612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Final model choice and next steps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w="12700">
            <a:solidFill>
              <a:srgbClr val="028090"/>
            </a:solidFill>
            <a:prstDash val="solid"/>
          </a:ln>
        </p:spPr>
      </p:sp>
      <p:sp>
        <p:nvSpPr>
          <p:cNvPr id="3" name="Text 1"/>
          <p:cNvSpPr/>
          <p:nvPr/>
        </p:nvSpPr>
        <p:spPr>
          <a:xfrm>
            <a:off x="365760" y="91440"/>
            <a:ext cx="841248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Business Problem &amp; Objective</a:t>
            </a:r>
            <a:endParaRPr lang="en-US" sz="2400" dirty="0"/>
          </a:p>
        </p:txBody>
      </p:sp>
      <p:sp>
        <p:nvSpPr>
          <p:cNvPr id="4" name="Shape 2"/>
          <p:cNvSpPr/>
          <p:nvPr/>
        </p:nvSpPr>
        <p:spPr>
          <a:xfrm>
            <a:off x="365760" y="914400"/>
            <a:ext cx="2651760" cy="1371600"/>
          </a:xfrm>
          <a:prstGeom prst="roundRect">
            <a:avLst>
              <a:gd name="adj" fmla="val 6667"/>
            </a:avLst>
          </a:prstGeom>
          <a:solidFill>
            <a:srgbClr val="1A2E45"/>
          </a:solidFill>
          <a:ln w="25400">
            <a:solidFill>
              <a:srgbClr val="E63946"/>
            </a:solidFill>
            <a:prstDash val="solid"/>
          </a:ln>
        </p:spPr>
      </p:sp>
      <p:sp>
        <p:nvSpPr>
          <p:cNvPr id="5" name="Text 3"/>
          <p:cNvSpPr/>
          <p:nvPr/>
        </p:nvSpPr>
        <p:spPr>
          <a:xfrm>
            <a:off x="365760" y="1005840"/>
            <a:ext cx="2651760" cy="640080"/>
          </a:xfrm>
          <a:prstGeom prst="rect">
            <a:avLst/>
          </a:prstGeom>
          <a:noFill/>
          <a:ln/>
        </p:spPr>
        <p:txBody>
          <a:bodyPr wrap="square" lIns="0" tIns="0" rIns="0" bIns="0" rtlCol="0" anchor="ctr"/>
          <a:lstStyle/>
          <a:p>
            <a:pPr algn="ctr" indent="0" marL="0">
              <a:buNone/>
            </a:pPr>
            <a:r>
              <a:rPr lang="en-US" sz="3200" b="1" dirty="0">
                <a:solidFill>
                  <a:srgbClr val="E63946"/>
                </a:solidFill>
                <a:latin typeface="Calibri" pitchFamily="34" charset="0"/>
                <a:ea typeface="Calibri" pitchFamily="34" charset="-122"/>
                <a:cs typeface="Calibri" pitchFamily="34" charset="-120"/>
              </a:rPr>
              <a:t>$33B+</a:t>
            </a:r>
            <a:endParaRPr lang="en-US" sz="3200" dirty="0"/>
          </a:p>
        </p:txBody>
      </p:sp>
      <p:sp>
        <p:nvSpPr>
          <p:cNvPr id="6" name="Text 4"/>
          <p:cNvSpPr/>
          <p:nvPr/>
        </p:nvSpPr>
        <p:spPr>
          <a:xfrm>
            <a:off x="365760" y="1600200"/>
            <a:ext cx="26517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Global Card Fraud Loss</a:t>
            </a:r>
            <a:endParaRPr lang="en-US" sz="1000" dirty="0"/>
          </a:p>
        </p:txBody>
      </p:sp>
      <p:sp>
        <p:nvSpPr>
          <p:cNvPr id="7" name="Text 5"/>
          <p:cNvSpPr/>
          <p:nvPr/>
        </p:nvSpPr>
        <p:spPr>
          <a:xfrm>
            <a:off x="365760" y="1874520"/>
            <a:ext cx="26517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annually worldwide</a:t>
            </a:r>
            <a:endParaRPr lang="en-US" sz="900" dirty="0"/>
          </a:p>
        </p:txBody>
      </p:sp>
      <p:sp>
        <p:nvSpPr>
          <p:cNvPr id="8" name="Shape 6"/>
          <p:cNvSpPr/>
          <p:nvPr/>
        </p:nvSpPr>
        <p:spPr>
          <a:xfrm>
            <a:off x="3246120" y="914400"/>
            <a:ext cx="2651760" cy="1371600"/>
          </a:xfrm>
          <a:prstGeom prst="roundRect">
            <a:avLst>
              <a:gd name="adj" fmla="val 6667"/>
            </a:avLst>
          </a:prstGeom>
          <a:solidFill>
            <a:srgbClr val="1A2E45"/>
          </a:solidFill>
          <a:ln w="25400">
            <a:solidFill>
              <a:srgbClr val="F4A261"/>
            </a:solidFill>
            <a:prstDash val="solid"/>
          </a:ln>
        </p:spPr>
      </p:sp>
      <p:sp>
        <p:nvSpPr>
          <p:cNvPr id="9" name="Text 7"/>
          <p:cNvSpPr/>
          <p:nvPr/>
        </p:nvSpPr>
        <p:spPr>
          <a:xfrm>
            <a:off x="3246120" y="1005840"/>
            <a:ext cx="2651760" cy="640080"/>
          </a:xfrm>
          <a:prstGeom prst="rect">
            <a:avLst/>
          </a:prstGeom>
          <a:noFill/>
          <a:ln/>
        </p:spPr>
        <p:txBody>
          <a:bodyPr wrap="square" lIns="0" tIns="0" rIns="0" bIns="0" rtlCol="0" anchor="ctr"/>
          <a:lstStyle/>
          <a:p>
            <a:pPr algn="ctr" indent="0" marL="0">
              <a:buNone/>
            </a:pPr>
            <a:r>
              <a:rPr lang="en-US" sz="3200" b="1" dirty="0">
                <a:solidFill>
                  <a:srgbClr val="F4A261"/>
                </a:solidFill>
                <a:latin typeface="Calibri" pitchFamily="34" charset="0"/>
                <a:ea typeface="Calibri" pitchFamily="34" charset="-122"/>
                <a:cs typeface="Calibri" pitchFamily="34" charset="-120"/>
              </a:rPr>
              <a:t>0.52%</a:t>
            </a:r>
            <a:endParaRPr lang="en-US" sz="3200" dirty="0"/>
          </a:p>
        </p:txBody>
      </p:sp>
      <p:sp>
        <p:nvSpPr>
          <p:cNvPr id="10" name="Text 8"/>
          <p:cNvSpPr/>
          <p:nvPr/>
        </p:nvSpPr>
        <p:spPr>
          <a:xfrm>
            <a:off x="3246120" y="1600200"/>
            <a:ext cx="26517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Detection Challenge</a:t>
            </a:r>
            <a:endParaRPr lang="en-US" sz="1000" dirty="0"/>
          </a:p>
        </p:txBody>
      </p:sp>
      <p:sp>
        <p:nvSpPr>
          <p:cNvPr id="11" name="Text 9"/>
          <p:cNvSpPr/>
          <p:nvPr/>
        </p:nvSpPr>
        <p:spPr>
          <a:xfrm>
            <a:off x="3246120" y="1874520"/>
            <a:ext cx="26517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fraud rate — extreme class imbalance</a:t>
            </a:r>
            <a:endParaRPr lang="en-US" sz="900" dirty="0"/>
          </a:p>
        </p:txBody>
      </p:sp>
      <p:sp>
        <p:nvSpPr>
          <p:cNvPr id="12" name="Shape 10"/>
          <p:cNvSpPr/>
          <p:nvPr/>
        </p:nvSpPr>
        <p:spPr>
          <a:xfrm>
            <a:off x="6126480" y="914400"/>
            <a:ext cx="2651760" cy="1371600"/>
          </a:xfrm>
          <a:prstGeom prst="roundRect">
            <a:avLst>
              <a:gd name="adj" fmla="val 6667"/>
            </a:avLst>
          </a:prstGeom>
          <a:solidFill>
            <a:srgbClr val="1A2E45"/>
          </a:solidFill>
          <a:ln w="25400">
            <a:solidFill>
              <a:srgbClr val="028090"/>
            </a:solidFill>
            <a:prstDash val="solid"/>
          </a:ln>
        </p:spPr>
      </p:sp>
      <p:sp>
        <p:nvSpPr>
          <p:cNvPr id="13" name="Text 11"/>
          <p:cNvSpPr/>
          <p:nvPr/>
        </p:nvSpPr>
        <p:spPr>
          <a:xfrm>
            <a:off x="6126480" y="1005840"/>
            <a:ext cx="2651760" cy="640080"/>
          </a:xfrm>
          <a:prstGeom prst="rect">
            <a:avLst/>
          </a:prstGeom>
          <a:noFill/>
          <a:ln/>
        </p:spPr>
        <p:txBody>
          <a:bodyPr wrap="square" lIns="0" tIns="0" rIns="0" bIns="0" rtlCol="0" anchor="ctr"/>
          <a:lstStyle/>
          <a:p>
            <a:pPr algn="ctr" indent="0" marL="0">
              <a:buNone/>
            </a:pPr>
            <a:r>
              <a:rPr lang="en-US" sz="3200" b="1" dirty="0">
                <a:solidFill>
                  <a:srgbClr val="028090"/>
                </a:solidFill>
                <a:latin typeface="Calibri" pitchFamily="34" charset="0"/>
                <a:ea typeface="Calibri" pitchFamily="34" charset="-122"/>
                <a:cs typeface="Calibri" pitchFamily="34" charset="-120"/>
              </a:rPr>
              <a:t>1.29M</a:t>
            </a:r>
            <a:endParaRPr lang="en-US" sz="3200" dirty="0"/>
          </a:p>
        </p:txBody>
      </p:sp>
      <p:sp>
        <p:nvSpPr>
          <p:cNvPr id="14" name="Text 12"/>
          <p:cNvSpPr/>
          <p:nvPr/>
        </p:nvSpPr>
        <p:spPr>
          <a:xfrm>
            <a:off x="6126480" y="1600200"/>
            <a:ext cx="26517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Size</a:t>
            </a:r>
            <a:endParaRPr lang="en-US" sz="1000" dirty="0"/>
          </a:p>
        </p:txBody>
      </p:sp>
      <p:sp>
        <p:nvSpPr>
          <p:cNvPr id="15" name="Text 13"/>
          <p:cNvSpPr/>
          <p:nvPr/>
        </p:nvSpPr>
        <p:spPr>
          <a:xfrm>
            <a:off x="6126480" y="1874520"/>
            <a:ext cx="26517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transactions analyzed</a:t>
            </a:r>
            <a:endParaRPr lang="en-US" sz="900" dirty="0"/>
          </a:p>
        </p:txBody>
      </p:sp>
      <p:sp>
        <p:nvSpPr>
          <p:cNvPr id="16" name="Text 14"/>
          <p:cNvSpPr/>
          <p:nvPr/>
        </p:nvSpPr>
        <p:spPr>
          <a:xfrm>
            <a:off x="365760" y="2514600"/>
            <a:ext cx="8229600" cy="320040"/>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Our Objectives</a:t>
            </a:r>
            <a:endParaRPr lang="en-US" sz="1600" dirty="0"/>
          </a:p>
        </p:txBody>
      </p:sp>
      <p:sp>
        <p:nvSpPr>
          <p:cNvPr id="17" name="Text 15"/>
          <p:cNvSpPr/>
          <p:nvPr/>
        </p:nvSpPr>
        <p:spPr>
          <a:xfrm>
            <a:off x="365760" y="2880360"/>
            <a:ext cx="8412480" cy="192024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Accurately identify fraudulent credit card transactions from 1.29M records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Handle extreme class imbalance (99.48% non-fraud vs 0.52% fraud) using SMOTE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Engineer behavioral and temporal features to improve detection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Minimize financial losses through cost-benefit optimized model selection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Evaluate business savings via quantified financial impact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 Understanding &amp; EDA</a:t>
            </a:r>
            <a:endParaRPr lang="en-US" sz="2400" dirty="0"/>
          </a:p>
        </p:txBody>
      </p:sp>
      <p:sp>
        <p:nvSpPr>
          <p:cNvPr id="4" name="Shape 2"/>
          <p:cNvSpPr/>
          <p:nvPr/>
        </p:nvSpPr>
        <p:spPr>
          <a:xfrm>
            <a:off x="365760" y="868680"/>
            <a:ext cx="1920240" cy="822960"/>
          </a:xfrm>
          <a:prstGeom prst="roundRect">
            <a:avLst>
              <a:gd name="adj" fmla="val 8889"/>
            </a:avLst>
          </a:prstGeom>
          <a:solidFill>
            <a:srgbClr val="0D1B2A"/>
          </a:solidFill>
          <a:ln w="12700">
            <a:solidFill>
              <a:srgbClr val="0D1B2A"/>
            </a:solidFill>
            <a:prstDash val="solid"/>
          </a:ln>
        </p:spPr>
      </p:sp>
      <p:sp>
        <p:nvSpPr>
          <p:cNvPr id="5" name="Text 3"/>
          <p:cNvSpPr/>
          <p:nvPr/>
        </p:nvSpPr>
        <p:spPr>
          <a:xfrm>
            <a:off x="365760" y="914400"/>
            <a:ext cx="1920240" cy="41148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1,296,675</a:t>
            </a:r>
            <a:endParaRPr lang="en-US" sz="2000" dirty="0"/>
          </a:p>
        </p:txBody>
      </p:sp>
      <p:sp>
        <p:nvSpPr>
          <p:cNvPr id="6" name="Text 4"/>
          <p:cNvSpPr/>
          <p:nvPr/>
        </p:nvSpPr>
        <p:spPr>
          <a:xfrm>
            <a:off x="365760" y="1307592"/>
            <a:ext cx="19202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Total Records</a:t>
            </a:r>
            <a:endParaRPr lang="en-US" sz="1000" dirty="0"/>
          </a:p>
        </p:txBody>
      </p:sp>
      <p:sp>
        <p:nvSpPr>
          <p:cNvPr id="7" name="Shape 5"/>
          <p:cNvSpPr/>
          <p:nvPr/>
        </p:nvSpPr>
        <p:spPr>
          <a:xfrm>
            <a:off x="2468880" y="868680"/>
            <a:ext cx="1920240" cy="822960"/>
          </a:xfrm>
          <a:prstGeom prst="roundRect">
            <a:avLst>
              <a:gd name="adj" fmla="val 8889"/>
            </a:avLst>
          </a:prstGeom>
          <a:solidFill>
            <a:srgbClr val="0D1B2A"/>
          </a:solidFill>
          <a:ln w="12700">
            <a:solidFill>
              <a:srgbClr val="0D1B2A"/>
            </a:solidFill>
            <a:prstDash val="solid"/>
          </a:ln>
        </p:spPr>
      </p:sp>
      <p:sp>
        <p:nvSpPr>
          <p:cNvPr id="8" name="Text 6"/>
          <p:cNvSpPr/>
          <p:nvPr/>
        </p:nvSpPr>
        <p:spPr>
          <a:xfrm>
            <a:off x="2468880" y="914400"/>
            <a:ext cx="1920240" cy="41148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23</a:t>
            </a:r>
            <a:endParaRPr lang="en-US" sz="2000" dirty="0"/>
          </a:p>
        </p:txBody>
      </p:sp>
      <p:sp>
        <p:nvSpPr>
          <p:cNvPr id="9" name="Text 7"/>
          <p:cNvSpPr/>
          <p:nvPr/>
        </p:nvSpPr>
        <p:spPr>
          <a:xfrm>
            <a:off x="2468880" y="1307592"/>
            <a:ext cx="19202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Features</a:t>
            </a:r>
            <a:endParaRPr lang="en-US" sz="1000" dirty="0"/>
          </a:p>
        </p:txBody>
      </p:sp>
      <p:sp>
        <p:nvSpPr>
          <p:cNvPr id="10" name="Shape 8"/>
          <p:cNvSpPr/>
          <p:nvPr/>
        </p:nvSpPr>
        <p:spPr>
          <a:xfrm>
            <a:off x="4572000" y="868680"/>
            <a:ext cx="1920240" cy="822960"/>
          </a:xfrm>
          <a:prstGeom prst="roundRect">
            <a:avLst>
              <a:gd name="adj" fmla="val 8889"/>
            </a:avLst>
          </a:prstGeom>
          <a:solidFill>
            <a:srgbClr val="0D1B2A"/>
          </a:solidFill>
          <a:ln w="12700">
            <a:solidFill>
              <a:srgbClr val="0D1B2A"/>
            </a:solidFill>
            <a:prstDash val="solid"/>
          </a:ln>
        </p:spPr>
      </p:sp>
      <p:sp>
        <p:nvSpPr>
          <p:cNvPr id="11" name="Text 9"/>
          <p:cNvSpPr/>
          <p:nvPr/>
        </p:nvSpPr>
        <p:spPr>
          <a:xfrm>
            <a:off x="4572000" y="914400"/>
            <a:ext cx="1920240" cy="41148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0</a:t>
            </a:r>
            <a:endParaRPr lang="en-US" sz="2000" dirty="0"/>
          </a:p>
        </p:txBody>
      </p:sp>
      <p:sp>
        <p:nvSpPr>
          <p:cNvPr id="12" name="Text 10"/>
          <p:cNvSpPr/>
          <p:nvPr/>
        </p:nvSpPr>
        <p:spPr>
          <a:xfrm>
            <a:off x="4572000" y="1307592"/>
            <a:ext cx="19202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Missing Values</a:t>
            </a:r>
            <a:endParaRPr lang="en-US" sz="1000" dirty="0"/>
          </a:p>
        </p:txBody>
      </p:sp>
      <p:sp>
        <p:nvSpPr>
          <p:cNvPr id="13" name="Shape 11"/>
          <p:cNvSpPr/>
          <p:nvPr/>
        </p:nvSpPr>
        <p:spPr>
          <a:xfrm>
            <a:off x="6675120" y="868680"/>
            <a:ext cx="1920240" cy="822960"/>
          </a:xfrm>
          <a:prstGeom prst="roundRect">
            <a:avLst>
              <a:gd name="adj" fmla="val 8889"/>
            </a:avLst>
          </a:prstGeom>
          <a:solidFill>
            <a:srgbClr val="0D1B2A"/>
          </a:solidFill>
          <a:ln w="12700">
            <a:solidFill>
              <a:srgbClr val="0D1B2A"/>
            </a:solidFill>
            <a:prstDash val="solid"/>
          </a:ln>
        </p:spPr>
      </p:sp>
      <p:sp>
        <p:nvSpPr>
          <p:cNvPr id="14" name="Text 12"/>
          <p:cNvSpPr/>
          <p:nvPr/>
        </p:nvSpPr>
        <p:spPr>
          <a:xfrm>
            <a:off x="6675120" y="914400"/>
            <a:ext cx="1920240" cy="41148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0.52%</a:t>
            </a:r>
            <a:endParaRPr lang="en-US" sz="2000" dirty="0"/>
          </a:p>
        </p:txBody>
      </p:sp>
      <p:sp>
        <p:nvSpPr>
          <p:cNvPr id="15" name="Text 13"/>
          <p:cNvSpPr/>
          <p:nvPr/>
        </p:nvSpPr>
        <p:spPr>
          <a:xfrm>
            <a:off x="6675120" y="1307592"/>
            <a:ext cx="19202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Fraud Rate</a:t>
            </a:r>
            <a:endParaRPr lang="en-US" sz="1000" dirty="0"/>
          </a:p>
        </p:txBody>
      </p:sp>
      <p:sp>
        <p:nvSpPr>
          <p:cNvPr id="16" name="Text 14"/>
          <p:cNvSpPr/>
          <p:nvPr/>
        </p:nvSpPr>
        <p:spPr>
          <a:xfrm>
            <a:off x="365760" y="1874520"/>
            <a:ext cx="4114800" cy="320040"/>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Key EDA Insights</a:t>
            </a:r>
            <a:endParaRPr lang="en-US" sz="1500" dirty="0"/>
          </a:p>
        </p:txBody>
      </p:sp>
      <p:sp>
        <p:nvSpPr>
          <p:cNvPr id="17" name="Shape 15"/>
          <p:cNvSpPr/>
          <p:nvPr/>
        </p:nvSpPr>
        <p:spPr>
          <a:xfrm>
            <a:off x="365760" y="2286000"/>
            <a:ext cx="4114800" cy="4572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457200" y="2377440"/>
            <a:ext cx="274320" cy="274320"/>
          </a:xfrm>
          <a:prstGeom prst="ellipse">
            <a:avLst/>
          </a:prstGeom>
          <a:solidFill>
            <a:srgbClr val="028090"/>
          </a:solidFill>
          <a:ln w="12700">
            <a:solidFill>
              <a:srgbClr val="028090"/>
            </a:solidFill>
            <a:prstDash val="solid"/>
          </a:ln>
        </p:spPr>
      </p:sp>
      <p:sp>
        <p:nvSpPr>
          <p:cNvPr id="19" name="Text 17"/>
          <p:cNvSpPr/>
          <p:nvPr/>
        </p:nvSpPr>
        <p:spPr>
          <a:xfrm>
            <a:off x="822960" y="2313432"/>
            <a:ext cx="347472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Class Imbalance: </a:t>
            </a:r>
            <a:endParaRPr lang="en-US" sz="1000" dirty="0"/>
          </a:p>
        </p:txBody>
      </p:sp>
      <p:sp>
        <p:nvSpPr>
          <p:cNvPr id="20" name="Text 18"/>
          <p:cNvSpPr/>
          <p:nvPr/>
        </p:nvSpPr>
        <p:spPr>
          <a:xfrm>
            <a:off x="822960" y="2487168"/>
            <a:ext cx="34747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99.48% legit vs 0.52% fraud — accuracy alone is misleading</a:t>
            </a:r>
            <a:endParaRPr lang="en-US" sz="900" dirty="0"/>
          </a:p>
        </p:txBody>
      </p:sp>
      <p:sp>
        <p:nvSpPr>
          <p:cNvPr id="21" name="Shape 19"/>
          <p:cNvSpPr/>
          <p:nvPr/>
        </p:nvSpPr>
        <p:spPr>
          <a:xfrm>
            <a:off x="365760" y="2816352"/>
            <a:ext cx="4114800" cy="4572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457200" y="2907792"/>
            <a:ext cx="274320" cy="274320"/>
          </a:xfrm>
          <a:prstGeom prst="ellipse">
            <a:avLst/>
          </a:prstGeom>
          <a:solidFill>
            <a:srgbClr val="028090"/>
          </a:solidFill>
          <a:ln w="12700">
            <a:solidFill>
              <a:srgbClr val="028090"/>
            </a:solidFill>
            <a:prstDash val="solid"/>
          </a:ln>
        </p:spPr>
      </p:sp>
      <p:sp>
        <p:nvSpPr>
          <p:cNvPr id="23" name="Text 21"/>
          <p:cNvSpPr/>
          <p:nvPr/>
        </p:nvSpPr>
        <p:spPr>
          <a:xfrm>
            <a:off x="822960" y="2843784"/>
            <a:ext cx="347472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Transaction Amount: </a:t>
            </a:r>
            <a:endParaRPr lang="en-US" sz="1000" dirty="0"/>
          </a:p>
        </p:txBody>
      </p:sp>
      <p:sp>
        <p:nvSpPr>
          <p:cNvPr id="24" name="Text 22"/>
          <p:cNvSpPr/>
          <p:nvPr/>
        </p:nvSpPr>
        <p:spPr>
          <a:xfrm>
            <a:off x="822960" y="3017520"/>
            <a:ext cx="34747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Fraud txns have significantly higher median amounts</a:t>
            </a:r>
            <a:endParaRPr lang="en-US" sz="900" dirty="0"/>
          </a:p>
        </p:txBody>
      </p:sp>
      <p:sp>
        <p:nvSpPr>
          <p:cNvPr id="25" name="Shape 23"/>
          <p:cNvSpPr/>
          <p:nvPr/>
        </p:nvSpPr>
        <p:spPr>
          <a:xfrm>
            <a:off x="365760" y="3346704"/>
            <a:ext cx="4114800" cy="4572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457200" y="3438144"/>
            <a:ext cx="274320" cy="274320"/>
          </a:xfrm>
          <a:prstGeom prst="ellipse">
            <a:avLst/>
          </a:prstGeom>
          <a:solidFill>
            <a:srgbClr val="028090"/>
          </a:solidFill>
          <a:ln w="12700">
            <a:solidFill>
              <a:srgbClr val="028090"/>
            </a:solidFill>
            <a:prstDash val="solid"/>
          </a:ln>
        </p:spPr>
      </p:sp>
      <p:sp>
        <p:nvSpPr>
          <p:cNvPr id="27" name="Text 25"/>
          <p:cNvSpPr/>
          <p:nvPr/>
        </p:nvSpPr>
        <p:spPr>
          <a:xfrm>
            <a:off x="822960" y="3374136"/>
            <a:ext cx="347472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High Skewness: </a:t>
            </a:r>
            <a:endParaRPr lang="en-US" sz="1000" dirty="0"/>
          </a:p>
        </p:txBody>
      </p:sp>
      <p:sp>
        <p:nvSpPr>
          <p:cNvPr id="28" name="Text 26"/>
          <p:cNvSpPr/>
          <p:nvPr/>
        </p:nvSpPr>
        <p:spPr>
          <a:xfrm>
            <a:off x="822960" y="3547872"/>
            <a:ext cx="34747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amt skewness: 40.81 → log transformation applied</a:t>
            </a:r>
            <a:endParaRPr lang="en-US" sz="900" dirty="0"/>
          </a:p>
        </p:txBody>
      </p:sp>
      <p:sp>
        <p:nvSpPr>
          <p:cNvPr id="29" name="Shape 27"/>
          <p:cNvSpPr/>
          <p:nvPr/>
        </p:nvSpPr>
        <p:spPr>
          <a:xfrm>
            <a:off x="365760" y="3877056"/>
            <a:ext cx="4114800" cy="4572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0" name="Shape 28"/>
          <p:cNvSpPr/>
          <p:nvPr/>
        </p:nvSpPr>
        <p:spPr>
          <a:xfrm>
            <a:off x="457200" y="3968496"/>
            <a:ext cx="274320" cy="274320"/>
          </a:xfrm>
          <a:prstGeom prst="ellipse">
            <a:avLst/>
          </a:prstGeom>
          <a:solidFill>
            <a:srgbClr val="028090"/>
          </a:solidFill>
          <a:ln w="12700">
            <a:solidFill>
              <a:srgbClr val="028090"/>
            </a:solidFill>
            <a:prstDash val="solid"/>
          </a:ln>
        </p:spPr>
      </p:sp>
      <p:sp>
        <p:nvSpPr>
          <p:cNvPr id="31" name="Text 29"/>
          <p:cNvSpPr/>
          <p:nvPr/>
        </p:nvSpPr>
        <p:spPr>
          <a:xfrm>
            <a:off x="822960" y="3904488"/>
            <a:ext cx="347472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City Hotspots: </a:t>
            </a:r>
            <a:endParaRPr lang="en-US" sz="1000" dirty="0"/>
          </a:p>
        </p:txBody>
      </p:sp>
      <p:sp>
        <p:nvSpPr>
          <p:cNvPr id="32" name="Text 30"/>
          <p:cNvSpPr/>
          <p:nvPr/>
        </p:nvSpPr>
        <p:spPr>
          <a:xfrm>
            <a:off x="822960" y="4078224"/>
            <a:ext cx="34747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Clearwater &amp; Aurora exceed 3% fraud rate</a:t>
            </a:r>
            <a:endParaRPr lang="en-US" sz="900" dirty="0"/>
          </a:p>
        </p:txBody>
      </p:sp>
      <p:sp>
        <p:nvSpPr>
          <p:cNvPr id="33" name="Shape 31"/>
          <p:cNvSpPr/>
          <p:nvPr/>
        </p:nvSpPr>
        <p:spPr>
          <a:xfrm>
            <a:off x="365760" y="4407408"/>
            <a:ext cx="4114800" cy="457200"/>
          </a:xfrm>
          <a:prstGeom prst="roundRect">
            <a:avLst>
              <a:gd name="adj" fmla="val 12000"/>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4" name="Shape 32"/>
          <p:cNvSpPr/>
          <p:nvPr/>
        </p:nvSpPr>
        <p:spPr>
          <a:xfrm>
            <a:off x="457200" y="4498848"/>
            <a:ext cx="274320" cy="274320"/>
          </a:xfrm>
          <a:prstGeom prst="ellipse">
            <a:avLst/>
          </a:prstGeom>
          <a:solidFill>
            <a:srgbClr val="028090"/>
          </a:solidFill>
          <a:ln w="12700">
            <a:solidFill>
              <a:srgbClr val="028090"/>
            </a:solidFill>
            <a:prstDash val="solid"/>
          </a:ln>
        </p:spPr>
      </p:sp>
      <p:sp>
        <p:nvSpPr>
          <p:cNvPr id="35" name="Text 33"/>
          <p:cNvSpPr/>
          <p:nvPr/>
        </p:nvSpPr>
        <p:spPr>
          <a:xfrm>
            <a:off x="822960" y="4434840"/>
            <a:ext cx="347472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Temporal Patterns: </a:t>
            </a:r>
            <a:endParaRPr lang="en-US" sz="1000" dirty="0"/>
          </a:p>
        </p:txBody>
      </p:sp>
      <p:sp>
        <p:nvSpPr>
          <p:cNvPr id="36" name="Text 34"/>
          <p:cNvSpPr/>
          <p:nvPr/>
        </p:nvSpPr>
        <p:spPr>
          <a:xfrm>
            <a:off x="822960" y="4608576"/>
            <a:ext cx="347472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Fraud peaks during certain hours and weekdays</a:t>
            </a:r>
            <a:endParaRPr lang="en-US" sz="900" dirty="0"/>
          </a:p>
        </p:txBody>
      </p:sp>
      <p:sp>
        <p:nvSpPr>
          <p:cNvPr id="37" name="Text 35"/>
          <p:cNvSpPr/>
          <p:nvPr/>
        </p:nvSpPr>
        <p:spPr>
          <a:xfrm>
            <a:off x="4754880" y="1874520"/>
            <a:ext cx="4114800" cy="320040"/>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Target Distribution</a:t>
            </a:r>
            <a:endParaRPr lang="en-US" sz="1500" dirty="0"/>
          </a:p>
        </p:txBody>
      </p:sp>
      <p:graphicFrame>
        <p:nvGraphicFramePr>
          <p:cNvPr id="38" name="Chart 0" descr=""/>
          <p:cNvGraphicFramePr/>
          <p:nvPr/>
        </p:nvGraphicFramePr>
        <p:xfrm>
          <a:off x="4663440" y="2240280"/>
          <a:ext cx="4206240" cy="2560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EDA — Fraud by Category &amp; City</a:t>
            </a:r>
            <a:endParaRPr lang="en-US" sz="2400" dirty="0"/>
          </a:p>
        </p:txBody>
      </p:sp>
      <p:sp>
        <p:nvSpPr>
          <p:cNvPr id="4" name="Text 2"/>
          <p:cNvSpPr/>
          <p:nvPr/>
        </p:nvSpPr>
        <p:spPr>
          <a:xfrm>
            <a:off x="274320" y="822960"/>
            <a:ext cx="502920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Top Categories by Fraud Rate</a:t>
            </a:r>
            <a:endParaRPr lang="en-US" sz="1300" dirty="0"/>
          </a:p>
        </p:txBody>
      </p:sp>
      <p:pic>
        <p:nvPicPr>
          <p:cNvPr id="5" name="Image 0" descr="/home/claude/fraud_category.png">    </p:cNvPr>
          <p:cNvPicPr>
            <a:picLocks noChangeAspect="1"/>
          </p:cNvPicPr>
          <p:nvPr/>
        </p:nvPicPr>
        <p:blipFill>
          <a:blip r:embed="rId1"/>
          <a:stretch>
            <a:fillRect/>
          </a:stretch>
        </p:blipFill>
        <p:spPr>
          <a:xfrm>
            <a:off x="182880" y="1097280"/>
            <a:ext cx="5120640" cy="2926080"/>
          </a:xfrm>
          <a:prstGeom prst="rect">
            <a:avLst/>
          </a:prstGeom>
        </p:spPr>
      </p:pic>
      <p:sp>
        <p:nvSpPr>
          <p:cNvPr id="6" name="Shape 3"/>
          <p:cNvSpPr/>
          <p:nvPr/>
        </p:nvSpPr>
        <p:spPr>
          <a:xfrm>
            <a:off x="182880" y="4114800"/>
            <a:ext cx="5120640" cy="822960"/>
          </a:xfrm>
          <a:prstGeom prst="roundRect">
            <a:avLst>
              <a:gd name="adj" fmla="val 8889"/>
            </a:avLst>
          </a:prstGeom>
          <a:solidFill>
            <a:srgbClr val="0D1B2A"/>
          </a:solidFill>
          <a:ln w="19050">
            <a:solidFill>
              <a:srgbClr val="028090"/>
            </a:solidFill>
            <a:prstDash val="solid"/>
          </a:ln>
        </p:spPr>
      </p:sp>
      <p:sp>
        <p:nvSpPr>
          <p:cNvPr id="7" name="Text 4"/>
          <p:cNvSpPr/>
          <p:nvPr/>
        </p:nvSpPr>
        <p:spPr>
          <a:xfrm>
            <a:off x="365760" y="4160520"/>
            <a:ext cx="4754880" cy="228600"/>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 Key Insight</a:t>
            </a:r>
            <a:endParaRPr lang="en-US" sz="1100" dirty="0"/>
          </a:p>
        </p:txBody>
      </p:sp>
      <p:sp>
        <p:nvSpPr>
          <p:cNvPr id="8" name="Text 5"/>
          <p:cNvSpPr/>
          <p:nvPr/>
        </p:nvSpPr>
        <p:spPr>
          <a:xfrm>
            <a:off x="365760" y="4370832"/>
            <a:ext cx="4754880" cy="5029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shopping_net (1.6%), misc_net (1.3%) and grocery_pos (1.26%) have the highest fraud rates — online &amp; grocery channels are primary fraud targets.</a:t>
            </a:r>
            <a:endParaRPr lang="en-US" sz="1000" dirty="0"/>
          </a:p>
        </p:txBody>
      </p:sp>
      <p:sp>
        <p:nvSpPr>
          <p:cNvPr id="9" name="Text 6"/>
          <p:cNvSpPr/>
          <p:nvPr/>
        </p:nvSpPr>
        <p:spPr>
          <a:xfrm>
            <a:off x="5486400" y="822960"/>
            <a:ext cx="347472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Top 10 Cities by Fraud Rate</a:t>
            </a:r>
            <a:endParaRPr lang="en-US" sz="1300" dirty="0"/>
          </a:p>
        </p:txBody>
      </p:sp>
      <p:pic>
        <p:nvPicPr>
          <p:cNvPr id="10" name="Image 1" descr="/home/claude/fraud_city.png">    </p:cNvPr>
          <p:cNvPicPr>
            <a:picLocks noChangeAspect="1"/>
          </p:cNvPicPr>
          <p:nvPr/>
        </p:nvPicPr>
        <p:blipFill>
          <a:blip r:embed="rId2"/>
          <a:stretch>
            <a:fillRect/>
          </a:stretch>
        </p:blipFill>
        <p:spPr>
          <a:xfrm>
            <a:off x="5394960" y="1097280"/>
            <a:ext cx="3566160" cy="2926080"/>
          </a:xfrm>
          <a:prstGeom prst="rect">
            <a:avLst/>
          </a:prstGeom>
        </p:spPr>
      </p:pic>
      <p:sp>
        <p:nvSpPr>
          <p:cNvPr id="11" name="Shape 7"/>
          <p:cNvSpPr/>
          <p:nvPr/>
        </p:nvSpPr>
        <p:spPr>
          <a:xfrm>
            <a:off x="5394960" y="4114800"/>
            <a:ext cx="3566160" cy="822960"/>
          </a:xfrm>
          <a:prstGeom prst="roundRect">
            <a:avLst>
              <a:gd name="adj" fmla="val 8889"/>
            </a:avLst>
          </a:prstGeom>
          <a:solidFill>
            <a:srgbClr val="0D1B2A"/>
          </a:solidFill>
          <a:ln w="19050">
            <a:solidFill>
              <a:srgbClr val="028090"/>
            </a:solidFill>
            <a:prstDash val="solid"/>
          </a:ln>
        </p:spPr>
      </p:sp>
      <p:sp>
        <p:nvSpPr>
          <p:cNvPr id="12" name="Text 8"/>
          <p:cNvSpPr/>
          <p:nvPr/>
        </p:nvSpPr>
        <p:spPr>
          <a:xfrm>
            <a:off x="5577840" y="4160520"/>
            <a:ext cx="3200400" cy="228600"/>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 Key Insight</a:t>
            </a:r>
            <a:endParaRPr lang="en-US" sz="1100" dirty="0"/>
          </a:p>
        </p:txBody>
      </p:sp>
      <p:sp>
        <p:nvSpPr>
          <p:cNvPr id="13" name="Text 9"/>
          <p:cNvSpPr/>
          <p:nvPr/>
        </p:nvSpPr>
        <p:spPr>
          <a:xfrm>
            <a:off x="5577840" y="4370832"/>
            <a:ext cx="3200400" cy="5029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Clearwater (3.2%) and Aurora (3.1%) are fraud hotspots — geographically targeted fraud prevention can reduce losses.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EDA — Fraud by Age, Time &amp; Amount</a:t>
            </a:r>
            <a:endParaRPr lang="en-US" sz="2400" dirty="0"/>
          </a:p>
        </p:txBody>
      </p:sp>
      <p:sp>
        <p:nvSpPr>
          <p:cNvPr id="4" name="Text 2"/>
          <p:cNvSpPr/>
          <p:nvPr/>
        </p:nvSpPr>
        <p:spPr>
          <a:xfrm>
            <a:off x="274320" y="777240"/>
            <a:ext cx="4114800" cy="256032"/>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Fraud Rate by Age Group</a:t>
            </a:r>
            <a:endParaRPr lang="en-US" sz="1300" dirty="0"/>
          </a:p>
        </p:txBody>
      </p:sp>
      <p:pic>
        <p:nvPicPr>
          <p:cNvPr id="5" name="Image 0" descr="/home/claude/fraud_age.png">    </p:cNvPr>
          <p:cNvPicPr>
            <a:picLocks noChangeAspect="1"/>
          </p:cNvPicPr>
          <p:nvPr/>
        </p:nvPicPr>
        <p:blipFill>
          <a:blip r:embed="rId1"/>
          <a:stretch>
            <a:fillRect/>
          </a:stretch>
        </p:blipFill>
        <p:spPr>
          <a:xfrm>
            <a:off x="182880" y="1005840"/>
            <a:ext cx="4206240" cy="2560320"/>
          </a:xfrm>
          <a:prstGeom prst="rect">
            <a:avLst/>
          </a:prstGeom>
        </p:spPr>
      </p:pic>
      <p:sp>
        <p:nvSpPr>
          <p:cNvPr id="6" name="Shape 3"/>
          <p:cNvSpPr/>
          <p:nvPr/>
        </p:nvSpPr>
        <p:spPr>
          <a:xfrm>
            <a:off x="182880" y="3611880"/>
            <a:ext cx="4206240" cy="685800"/>
          </a:xfrm>
          <a:prstGeom prst="roundRect">
            <a:avLst>
              <a:gd name="adj" fmla="val 10667"/>
            </a:avLst>
          </a:prstGeom>
          <a:solidFill>
            <a:srgbClr val="0D1B2A"/>
          </a:solidFill>
          <a:ln w="19050">
            <a:solidFill>
              <a:srgbClr val="028090"/>
            </a:solidFill>
            <a:prstDash val="solid"/>
          </a:ln>
        </p:spPr>
      </p:sp>
      <p:sp>
        <p:nvSpPr>
          <p:cNvPr id="7" name="Text 4"/>
          <p:cNvSpPr/>
          <p:nvPr/>
        </p:nvSpPr>
        <p:spPr>
          <a:xfrm>
            <a:off x="365760" y="3657600"/>
            <a:ext cx="3840480" cy="5943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Elderly (80-105) show 0.76% fraud rate — highest of all age groups. Adults (35-50) are least targeted at 0.41%.</a:t>
            </a:r>
            <a:endParaRPr lang="en-US" sz="1000" dirty="0"/>
          </a:p>
        </p:txBody>
      </p:sp>
      <p:sp>
        <p:nvSpPr>
          <p:cNvPr id="8" name="Text 5"/>
          <p:cNvSpPr/>
          <p:nvPr/>
        </p:nvSpPr>
        <p:spPr>
          <a:xfrm>
            <a:off x="4663440" y="777240"/>
            <a:ext cx="4114800" cy="256032"/>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Fraud Rate by Time Period</a:t>
            </a:r>
            <a:endParaRPr lang="en-US" sz="1300" dirty="0"/>
          </a:p>
        </p:txBody>
      </p:sp>
      <p:pic>
        <p:nvPicPr>
          <p:cNvPr id="9" name="Image 1" descr="/home/claude/fraud_time.png">    </p:cNvPr>
          <p:cNvPicPr>
            <a:picLocks noChangeAspect="1"/>
          </p:cNvPicPr>
          <p:nvPr/>
        </p:nvPicPr>
        <p:blipFill>
          <a:blip r:embed="rId2"/>
          <a:stretch>
            <a:fillRect/>
          </a:stretch>
        </p:blipFill>
        <p:spPr>
          <a:xfrm>
            <a:off x="4572000" y="1005840"/>
            <a:ext cx="4389120" cy="2560320"/>
          </a:xfrm>
          <a:prstGeom prst="rect">
            <a:avLst/>
          </a:prstGeom>
        </p:spPr>
      </p:pic>
      <p:sp>
        <p:nvSpPr>
          <p:cNvPr id="10" name="Shape 6"/>
          <p:cNvSpPr/>
          <p:nvPr/>
        </p:nvSpPr>
        <p:spPr>
          <a:xfrm>
            <a:off x="4572000" y="3611880"/>
            <a:ext cx="4389120" cy="685800"/>
          </a:xfrm>
          <a:prstGeom prst="roundRect">
            <a:avLst>
              <a:gd name="adj" fmla="val 10667"/>
            </a:avLst>
          </a:prstGeom>
          <a:solidFill>
            <a:srgbClr val="0D1B2A"/>
          </a:solidFill>
          <a:ln w="19050">
            <a:solidFill>
              <a:srgbClr val="028090"/>
            </a:solidFill>
            <a:prstDash val="solid"/>
          </a:ln>
        </p:spPr>
      </p:sp>
      <p:sp>
        <p:nvSpPr>
          <p:cNvPr id="11" name="Text 7"/>
          <p:cNvSpPr/>
          <p:nvPr/>
        </p:nvSpPr>
        <p:spPr>
          <a:xfrm>
            <a:off x="4754880" y="3657600"/>
            <a:ext cx="4023360" cy="59436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Night (10pm–5am) has dramatically higher fraud rate (1.65%) — fraudsters operate when customers are least alert.</a:t>
            </a:r>
            <a:endParaRPr lang="en-US" sz="1000" dirty="0"/>
          </a:p>
        </p:txBody>
      </p:sp>
      <p:sp>
        <p:nvSpPr>
          <p:cNvPr id="12" name="Shape 8"/>
          <p:cNvSpPr/>
          <p:nvPr/>
        </p:nvSpPr>
        <p:spPr>
          <a:xfrm>
            <a:off x="182880" y="4389120"/>
            <a:ext cx="8778240" cy="594360"/>
          </a:xfrm>
          <a:prstGeom prst="roundRect">
            <a:avLst>
              <a:gd name="adj" fmla="val 12308"/>
            </a:avLst>
          </a:prstGeom>
          <a:solidFill>
            <a:srgbClr val="028090"/>
          </a:solidFill>
          <a:ln w="12700">
            <a:solidFill>
              <a:srgbClr val="028090"/>
            </a:solidFill>
            <a:prstDash val="solid"/>
          </a:ln>
        </p:spPr>
      </p:sp>
      <p:sp>
        <p:nvSpPr>
          <p:cNvPr id="13" name="Text 9"/>
          <p:cNvSpPr/>
          <p:nvPr/>
        </p:nvSpPr>
        <p:spPr>
          <a:xfrm>
            <a:off x="365760" y="4462272"/>
            <a:ext cx="84124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Transaction Amount:  Legitimate avg = $67.65  vs  Fraud avg = $530.66  →  Fraudulent transactions are 7.8× higher in value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Feature Engineering</a:t>
            </a:r>
            <a:endParaRPr lang="en-US" sz="2400" dirty="0"/>
          </a:p>
        </p:txBody>
      </p:sp>
      <p:sp>
        <p:nvSpPr>
          <p:cNvPr id="4" name="Text 2"/>
          <p:cNvSpPr/>
          <p:nvPr/>
        </p:nvSpPr>
        <p:spPr>
          <a:xfrm>
            <a:off x="365760" y="822960"/>
            <a:ext cx="2743200" cy="320040"/>
          </a:xfrm>
          <a:prstGeom prst="rect">
            <a:avLst/>
          </a:prstGeom>
          <a:noFill/>
          <a:ln/>
        </p:spPr>
        <p:txBody>
          <a:bodyPr wrap="square" lIns="0" tIns="0" rIns="0" bIns="0" rtlCol="0" anchor="ctr"/>
          <a:lstStyle/>
          <a:p>
            <a:pPr indent="0" marL="0">
              <a:buNone/>
            </a:pPr>
            <a:r>
              <a:rPr lang="en-US" sz="1400" b="1" dirty="0">
                <a:solidFill>
                  <a:srgbClr val="E63946"/>
                </a:solidFill>
                <a:latin typeface="Calibri" pitchFamily="34" charset="0"/>
                <a:ea typeface="Calibri" pitchFamily="34" charset="-122"/>
                <a:cs typeface="Calibri" pitchFamily="34" charset="-120"/>
              </a:rPr>
              <a:t>Columns Removed</a:t>
            </a:r>
            <a:endParaRPr lang="en-US" sz="1400" dirty="0"/>
          </a:p>
        </p:txBody>
      </p:sp>
      <p:sp>
        <p:nvSpPr>
          <p:cNvPr id="5" name="Text 3"/>
          <p:cNvSpPr/>
          <p:nvPr/>
        </p:nvSpPr>
        <p:spPr>
          <a:xfrm>
            <a:off x="365760" y="1170432"/>
            <a:ext cx="2926080" cy="82296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first, last (PII)</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Unnamed:0, unix_time (redundant)</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zip, trans_num, street (non-informative)</a:t>
            </a:r>
            <a:endParaRPr lang="en-US" sz="1100" dirty="0"/>
          </a:p>
        </p:txBody>
      </p:sp>
      <p:sp>
        <p:nvSpPr>
          <p:cNvPr id="6" name="Text 4"/>
          <p:cNvSpPr/>
          <p:nvPr/>
        </p:nvSpPr>
        <p:spPr>
          <a:xfrm>
            <a:off x="3657600" y="822960"/>
            <a:ext cx="512064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New Features Created</a:t>
            </a:r>
            <a:endParaRPr lang="en-US" sz="1400" dirty="0"/>
          </a:p>
        </p:txBody>
      </p:sp>
      <p:sp>
        <p:nvSpPr>
          <p:cNvPr id="7" name="Shape 5"/>
          <p:cNvSpPr/>
          <p:nvPr/>
        </p:nvSpPr>
        <p:spPr>
          <a:xfrm>
            <a:off x="3566160" y="1143000"/>
            <a:ext cx="530352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749040" y="1197864"/>
            <a:ext cx="4937760" cy="25603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Temporal Features</a:t>
            </a:r>
            <a:endParaRPr lang="en-US" sz="1200" dirty="0"/>
          </a:p>
        </p:txBody>
      </p:sp>
      <p:sp>
        <p:nvSpPr>
          <p:cNvPr id="9" name="Text 7"/>
          <p:cNvSpPr/>
          <p:nvPr/>
        </p:nvSpPr>
        <p:spPr>
          <a:xfrm>
            <a:off x="3749040" y="1490472"/>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Year, Month, Weekday, Hour from transaction timestamp — captures time-based fraud patterns</a:t>
            </a:r>
            <a:endParaRPr lang="en-US" sz="1000" dirty="0"/>
          </a:p>
        </p:txBody>
      </p:sp>
      <p:sp>
        <p:nvSpPr>
          <p:cNvPr id="10" name="Shape 8"/>
          <p:cNvSpPr/>
          <p:nvPr/>
        </p:nvSpPr>
        <p:spPr>
          <a:xfrm>
            <a:off x="3566160" y="2029968"/>
            <a:ext cx="530352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3749040" y="2084832"/>
            <a:ext cx="4937760" cy="25603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Customer Age</a:t>
            </a:r>
            <a:endParaRPr lang="en-US" sz="1200" dirty="0"/>
          </a:p>
        </p:txBody>
      </p:sp>
      <p:sp>
        <p:nvSpPr>
          <p:cNvPr id="12" name="Text 10"/>
          <p:cNvSpPr/>
          <p:nvPr/>
        </p:nvSpPr>
        <p:spPr>
          <a:xfrm>
            <a:off x="3749040" y="2377440"/>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Derived from date of birth — age groups show different fraud vulnerability</a:t>
            </a:r>
            <a:endParaRPr lang="en-US" sz="1000" dirty="0"/>
          </a:p>
        </p:txBody>
      </p:sp>
      <p:sp>
        <p:nvSpPr>
          <p:cNvPr id="13" name="Shape 11"/>
          <p:cNvSpPr/>
          <p:nvPr/>
        </p:nvSpPr>
        <p:spPr>
          <a:xfrm>
            <a:off x="3566160" y="2916936"/>
            <a:ext cx="530352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3749040" y="2971800"/>
            <a:ext cx="4937760" cy="25603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Distance (Haversine)</a:t>
            </a:r>
            <a:endParaRPr lang="en-US" sz="1200" dirty="0"/>
          </a:p>
        </p:txBody>
      </p:sp>
      <p:sp>
        <p:nvSpPr>
          <p:cNvPr id="15" name="Text 13"/>
          <p:cNvSpPr/>
          <p:nvPr/>
        </p:nvSpPr>
        <p:spPr>
          <a:xfrm>
            <a:off x="3749040" y="3264408"/>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Geographic distance between customer and merchant — large distances flag suspicious txns</a:t>
            </a:r>
            <a:endParaRPr lang="en-US" sz="1000" dirty="0"/>
          </a:p>
        </p:txBody>
      </p:sp>
      <p:sp>
        <p:nvSpPr>
          <p:cNvPr id="16" name="Shape 14"/>
          <p:cNvSpPr/>
          <p:nvPr/>
        </p:nvSpPr>
        <p:spPr>
          <a:xfrm>
            <a:off x="3566160" y="3803904"/>
            <a:ext cx="5303520" cy="749808"/>
          </a:xfrm>
          <a:prstGeom prst="roundRect">
            <a:avLst>
              <a:gd name="adj" fmla="val 975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3749040" y="3858768"/>
            <a:ext cx="4937760" cy="25603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Log Transformation</a:t>
            </a:r>
            <a:endParaRPr lang="en-US" sz="1200" dirty="0"/>
          </a:p>
        </p:txBody>
      </p:sp>
      <p:sp>
        <p:nvSpPr>
          <p:cNvPr id="18" name="Text 16"/>
          <p:cNvSpPr/>
          <p:nvPr/>
        </p:nvSpPr>
        <p:spPr>
          <a:xfrm>
            <a:off x="3749040" y="4151376"/>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log(amt) to fix extreme right skewness (40.81 → -0.45)</a:t>
            </a:r>
            <a:endParaRPr lang="en-US" sz="1000" dirty="0"/>
          </a:p>
        </p:txBody>
      </p:sp>
      <p:sp>
        <p:nvSpPr>
          <p:cNvPr id="19" name="Shape 17"/>
          <p:cNvSpPr/>
          <p:nvPr/>
        </p:nvSpPr>
        <p:spPr>
          <a:xfrm>
            <a:off x="365760" y="4617720"/>
            <a:ext cx="8412480" cy="365760"/>
          </a:xfrm>
          <a:prstGeom prst="roundRect">
            <a:avLst>
              <a:gd name="adj" fmla="val 15000"/>
            </a:avLst>
          </a:prstGeom>
          <a:solidFill>
            <a:srgbClr val="0D1B2A"/>
          </a:solidFill>
          <a:ln w="12700">
            <a:solidFill>
              <a:srgbClr val="0D1B2A"/>
            </a:solidFill>
            <a:prstDash val="solid"/>
          </a:ln>
        </p:spPr>
      </p:sp>
      <p:sp>
        <p:nvSpPr>
          <p:cNvPr id="20" name="Text 18"/>
          <p:cNvSpPr/>
          <p:nvPr/>
        </p:nvSpPr>
        <p:spPr>
          <a:xfrm>
            <a:off x="457200" y="4663440"/>
            <a:ext cx="8229600" cy="27432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Removed redundant columns + Engineered 4 feature groups → Stratified 70/30 train-test split applied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w="12700">
            <a:solidFill>
              <a:srgbClr val="028090"/>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 Building Journey</a:t>
            </a:r>
            <a:endParaRPr lang="en-US" sz="2400" dirty="0"/>
          </a:p>
        </p:txBody>
      </p:sp>
      <p:sp>
        <p:nvSpPr>
          <p:cNvPr id="4" name="Shape 2"/>
          <p:cNvSpPr/>
          <p:nvPr/>
        </p:nvSpPr>
        <p:spPr>
          <a:xfrm>
            <a:off x="274320" y="914400"/>
            <a:ext cx="4114800" cy="868680"/>
          </a:xfrm>
          <a:prstGeom prst="roundRect">
            <a:avLst>
              <a:gd name="adj" fmla="val 8421"/>
            </a:avLst>
          </a:prstGeom>
          <a:solidFill>
            <a:srgbClr val="1A2E45"/>
          </a:solidFill>
          <a:ln w="19050">
            <a:solidFill>
              <a:srgbClr val="64748B"/>
            </a:solidFill>
            <a:prstDash val="solid"/>
          </a:ln>
        </p:spPr>
      </p:sp>
      <p:sp>
        <p:nvSpPr>
          <p:cNvPr id="5" name="Shape 3"/>
          <p:cNvSpPr/>
          <p:nvPr/>
        </p:nvSpPr>
        <p:spPr>
          <a:xfrm>
            <a:off x="365760" y="1097280"/>
            <a:ext cx="502920" cy="502920"/>
          </a:xfrm>
          <a:prstGeom prst="ellipse">
            <a:avLst/>
          </a:prstGeom>
          <a:solidFill>
            <a:srgbClr val="64748B"/>
          </a:solidFill>
          <a:ln w="12700">
            <a:solidFill>
              <a:srgbClr val="64748B"/>
            </a:solidFill>
            <a:prstDash val="solid"/>
          </a:ln>
        </p:spPr>
      </p:sp>
      <p:sp>
        <p:nvSpPr>
          <p:cNvPr id="6" name="Text 4"/>
          <p:cNvSpPr/>
          <p:nvPr/>
        </p:nvSpPr>
        <p:spPr>
          <a:xfrm>
            <a:off x="365760" y="1097280"/>
            <a:ext cx="502920" cy="5029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60120" y="960120"/>
            <a:ext cx="32918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Logistic Regression</a:t>
            </a:r>
            <a:endParaRPr lang="en-US" sz="1200" dirty="0"/>
          </a:p>
        </p:txBody>
      </p:sp>
      <p:sp>
        <p:nvSpPr>
          <p:cNvPr id="8" name="Text 6"/>
          <p:cNvSpPr/>
          <p:nvPr/>
        </p:nvSpPr>
        <p:spPr>
          <a:xfrm>
            <a:off x="960120" y="1207008"/>
            <a:ext cx="329184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Baseline</a:t>
            </a:r>
            <a:endParaRPr lang="en-US" sz="1000" dirty="0"/>
          </a:p>
        </p:txBody>
      </p:sp>
      <p:sp>
        <p:nvSpPr>
          <p:cNvPr id="9" name="Text 7"/>
          <p:cNvSpPr/>
          <p:nvPr/>
        </p:nvSpPr>
        <p:spPr>
          <a:xfrm>
            <a:off x="960120" y="1408176"/>
            <a:ext cx="32918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Class weight balanced</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Linear decision boundary</a:t>
            </a:r>
            <a:endParaRPr lang="en-US" sz="900" dirty="0"/>
          </a:p>
        </p:txBody>
      </p:sp>
      <p:sp>
        <p:nvSpPr>
          <p:cNvPr id="10" name="Shape 8"/>
          <p:cNvSpPr/>
          <p:nvPr/>
        </p:nvSpPr>
        <p:spPr>
          <a:xfrm>
            <a:off x="274320" y="1965960"/>
            <a:ext cx="4114800" cy="868680"/>
          </a:xfrm>
          <a:prstGeom prst="roundRect">
            <a:avLst>
              <a:gd name="adj" fmla="val 8421"/>
            </a:avLst>
          </a:prstGeom>
          <a:solidFill>
            <a:srgbClr val="1A2E45"/>
          </a:solidFill>
          <a:ln w="19050">
            <a:solidFill>
              <a:srgbClr val="F4A261"/>
            </a:solidFill>
            <a:prstDash val="solid"/>
          </a:ln>
        </p:spPr>
      </p:sp>
      <p:sp>
        <p:nvSpPr>
          <p:cNvPr id="11" name="Shape 9"/>
          <p:cNvSpPr/>
          <p:nvPr/>
        </p:nvSpPr>
        <p:spPr>
          <a:xfrm>
            <a:off x="365760" y="2148840"/>
            <a:ext cx="502920" cy="502920"/>
          </a:xfrm>
          <a:prstGeom prst="ellipse">
            <a:avLst/>
          </a:prstGeom>
          <a:solidFill>
            <a:srgbClr val="F4A261"/>
          </a:solidFill>
          <a:ln w="12700">
            <a:solidFill>
              <a:srgbClr val="F4A261"/>
            </a:solidFill>
            <a:prstDash val="solid"/>
          </a:ln>
        </p:spPr>
      </p:sp>
      <p:sp>
        <p:nvSpPr>
          <p:cNvPr id="12" name="Text 10"/>
          <p:cNvSpPr/>
          <p:nvPr/>
        </p:nvSpPr>
        <p:spPr>
          <a:xfrm>
            <a:off x="365760" y="2148840"/>
            <a:ext cx="502920" cy="5029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960120" y="2011680"/>
            <a:ext cx="32918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Random Forest</a:t>
            </a:r>
            <a:endParaRPr lang="en-US" sz="1200" dirty="0"/>
          </a:p>
        </p:txBody>
      </p:sp>
      <p:sp>
        <p:nvSpPr>
          <p:cNvPr id="14" name="Text 12"/>
          <p:cNvSpPr/>
          <p:nvPr/>
        </p:nvSpPr>
        <p:spPr>
          <a:xfrm>
            <a:off x="960120" y="2258568"/>
            <a:ext cx="3291840" cy="201168"/>
          </a:xfrm>
          <a:prstGeom prst="rect">
            <a:avLst/>
          </a:prstGeom>
          <a:noFill/>
          <a:ln/>
        </p:spPr>
        <p:txBody>
          <a:bodyPr wrap="square" lIns="0" tIns="0" rIns="0" bIns="0" rtlCol="0" anchor="ctr"/>
          <a:lstStyle/>
          <a:p>
            <a:pPr indent="0" marL="0">
              <a:buNone/>
            </a:pPr>
            <a:r>
              <a:rPr lang="en-US" sz="1000" dirty="0">
                <a:solidFill>
                  <a:srgbClr val="F4A261"/>
                </a:solidFill>
                <a:latin typeface="Calibri" pitchFamily="34" charset="0"/>
                <a:ea typeface="Calibri" pitchFamily="34" charset="-122"/>
                <a:cs typeface="Calibri" pitchFamily="34" charset="-120"/>
              </a:rPr>
              <a:t>+ Class Weight</a:t>
            </a:r>
            <a:endParaRPr lang="en-US" sz="1000" dirty="0"/>
          </a:p>
        </p:txBody>
      </p:sp>
      <p:sp>
        <p:nvSpPr>
          <p:cNvPr id="15" name="Text 13"/>
          <p:cNvSpPr/>
          <p:nvPr/>
        </p:nvSpPr>
        <p:spPr>
          <a:xfrm>
            <a:off x="960120" y="2459736"/>
            <a:ext cx="32918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Ensemble method</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Handles non-linearity</a:t>
            </a:r>
            <a:endParaRPr lang="en-US" sz="900" dirty="0"/>
          </a:p>
        </p:txBody>
      </p:sp>
      <p:sp>
        <p:nvSpPr>
          <p:cNvPr id="16" name="Shape 14"/>
          <p:cNvSpPr/>
          <p:nvPr/>
        </p:nvSpPr>
        <p:spPr>
          <a:xfrm>
            <a:off x="274320" y="3017520"/>
            <a:ext cx="4114800" cy="868680"/>
          </a:xfrm>
          <a:prstGeom prst="roundRect">
            <a:avLst>
              <a:gd name="adj" fmla="val 8421"/>
            </a:avLst>
          </a:prstGeom>
          <a:solidFill>
            <a:srgbClr val="1A2E45"/>
          </a:solidFill>
          <a:ln w="19050">
            <a:solidFill>
              <a:srgbClr val="F4A261"/>
            </a:solidFill>
            <a:prstDash val="solid"/>
          </a:ln>
        </p:spPr>
      </p:sp>
      <p:sp>
        <p:nvSpPr>
          <p:cNvPr id="17" name="Shape 15"/>
          <p:cNvSpPr/>
          <p:nvPr/>
        </p:nvSpPr>
        <p:spPr>
          <a:xfrm>
            <a:off x="365760" y="3200400"/>
            <a:ext cx="502920" cy="502920"/>
          </a:xfrm>
          <a:prstGeom prst="ellipse">
            <a:avLst/>
          </a:prstGeom>
          <a:solidFill>
            <a:srgbClr val="F4A261"/>
          </a:solidFill>
          <a:ln w="12700">
            <a:solidFill>
              <a:srgbClr val="F4A261"/>
            </a:solidFill>
            <a:prstDash val="solid"/>
          </a:ln>
        </p:spPr>
      </p:sp>
      <p:sp>
        <p:nvSpPr>
          <p:cNvPr id="18" name="Text 16"/>
          <p:cNvSpPr/>
          <p:nvPr/>
        </p:nvSpPr>
        <p:spPr>
          <a:xfrm>
            <a:off x="365760" y="3200400"/>
            <a:ext cx="502920" cy="5029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960120" y="3063240"/>
            <a:ext cx="32918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Random Forest</a:t>
            </a:r>
            <a:endParaRPr lang="en-US" sz="1200" dirty="0"/>
          </a:p>
        </p:txBody>
      </p:sp>
      <p:sp>
        <p:nvSpPr>
          <p:cNvPr id="20" name="Text 18"/>
          <p:cNvSpPr/>
          <p:nvPr/>
        </p:nvSpPr>
        <p:spPr>
          <a:xfrm>
            <a:off x="960120" y="3310128"/>
            <a:ext cx="3291840" cy="201168"/>
          </a:xfrm>
          <a:prstGeom prst="rect">
            <a:avLst/>
          </a:prstGeom>
          <a:noFill/>
          <a:ln/>
        </p:spPr>
        <p:txBody>
          <a:bodyPr wrap="square" lIns="0" tIns="0" rIns="0" bIns="0" rtlCol="0" anchor="ctr"/>
          <a:lstStyle/>
          <a:p>
            <a:pPr indent="0" marL="0">
              <a:buNone/>
            </a:pPr>
            <a:r>
              <a:rPr lang="en-US" sz="1000" dirty="0">
                <a:solidFill>
                  <a:srgbClr val="F4A261"/>
                </a:solidFill>
                <a:latin typeface="Calibri" pitchFamily="34" charset="0"/>
                <a:ea typeface="Calibri" pitchFamily="34" charset="-122"/>
                <a:cs typeface="Calibri" pitchFamily="34" charset="-120"/>
              </a:rPr>
              <a:t>+ SMOTE</a:t>
            </a:r>
            <a:endParaRPr lang="en-US" sz="1000" dirty="0"/>
          </a:p>
        </p:txBody>
      </p:sp>
      <p:sp>
        <p:nvSpPr>
          <p:cNvPr id="21" name="Text 19"/>
          <p:cNvSpPr/>
          <p:nvPr/>
        </p:nvSpPr>
        <p:spPr>
          <a:xfrm>
            <a:off x="960120" y="3511296"/>
            <a:ext cx="32918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Synthetic oversampling</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of minority class</a:t>
            </a:r>
            <a:endParaRPr lang="en-US" sz="900" dirty="0"/>
          </a:p>
        </p:txBody>
      </p:sp>
      <p:sp>
        <p:nvSpPr>
          <p:cNvPr id="22" name="Shape 20"/>
          <p:cNvSpPr/>
          <p:nvPr/>
        </p:nvSpPr>
        <p:spPr>
          <a:xfrm>
            <a:off x="274320" y="4069080"/>
            <a:ext cx="4114800" cy="868680"/>
          </a:xfrm>
          <a:prstGeom prst="roundRect">
            <a:avLst>
              <a:gd name="adj" fmla="val 8421"/>
            </a:avLst>
          </a:prstGeom>
          <a:solidFill>
            <a:srgbClr val="1A2E45"/>
          </a:solidFill>
          <a:ln w="19050">
            <a:solidFill>
              <a:srgbClr val="028090"/>
            </a:solidFill>
            <a:prstDash val="solid"/>
          </a:ln>
        </p:spPr>
      </p:sp>
      <p:sp>
        <p:nvSpPr>
          <p:cNvPr id="23" name="Shape 21"/>
          <p:cNvSpPr/>
          <p:nvPr/>
        </p:nvSpPr>
        <p:spPr>
          <a:xfrm>
            <a:off x="365760" y="4251960"/>
            <a:ext cx="502920" cy="502920"/>
          </a:xfrm>
          <a:prstGeom prst="ellipse">
            <a:avLst/>
          </a:prstGeom>
          <a:solidFill>
            <a:srgbClr val="028090"/>
          </a:solidFill>
          <a:ln w="12700">
            <a:solidFill>
              <a:srgbClr val="028090"/>
            </a:solidFill>
            <a:prstDash val="solid"/>
          </a:ln>
        </p:spPr>
      </p:sp>
      <p:sp>
        <p:nvSpPr>
          <p:cNvPr id="24" name="Text 22"/>
          <p:cNvSpPr/>
          <p:nvPr/>
        </p:nvSpPr>
        <p:spPr>
          <a:xfrm>
            <a:off x="365760" y="4251960"/>
            <a:ext cx="502920" cy="5029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960120" y="4114800"/>
            <a:ext cx="32918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XGBoost</a:t>
            </a:r>
            <a:endParaRPr lang="en-US" sz="1200" dirty="0"/>
          </a:p>
        </p:txBody>
      </p:sp>
      <p:sp>
        <p:nvSpPr>
          <p:cNvPr id="26" name="Text 24"/>
          <p:cNvSpPr/>
          <p:nvPr/>
        </p:nvSpPr>
        <p:spPr>
          <a:xfrm>
            <a:off x="960120" y="4361688"/>
            <a:ext cx="3291840" cy="201168"/>
          </a:xfrm>
          <a:prstGeom prst="rect">
            <a:avLst/>
          </a:prstGeom>
          <a:noFill/>
          <a:ln/>
        </p:spPr>
        <p:txBody>
          <a:bodyPr wrap="square" lIns="0" tIns="0" rIns="0" bIns="0" rtlCol="0" anchor="ctr"/>
          <a:lstStyle/>
          <a:p>
            <a:pPr indent="0" marL="0">
              <a:buNone/>
            </a:pPr>
            <a:r>
              <a:rPr lang="en-US" sz="1000" dirty="0">
                <a:solidFill>
                  <a:srgbClr val="028090"/>
                </a:solidFill>
                <a:latin typeface="Calibri" pitchFamily="34" charset="0"/>
                <a:ea typeface="Calibri" pitchFamily="34" charset="-122"/>
                <a:cs typeface="Calibri" pitchFamily="34" charset="-120"/>
              </a:rPr>
              <a:t>+ Class Balance</a:t>
            </a:r>
            <a:endParaRPr lang="en-US" sz="1000" dirty="0"/>
          </a:p>
        </p:txBody>
      </p:sp>
      <p:sp>
        <p:nvSpPr>
          <p:cNvPr id="27" name="Text 25"/>
          <p:cNvSpPr/>
          <p:nvPr/>
        </p:nvSpPr>
        <p:spPr>
          <a:xfrm>
            <a:off x="960120" y="4562856"/>
            <a:ext cx="32918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Gradient boosting</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scale_pos_weight used</a:t>
            </a:r>
            <a:endParaRPr lang="en-US" sz="900" dirty="0"/>
          </a:p>
        </p:txBody>
      </p:sp>
      <p:sp>
        <p:nvSpPr>
          <p:cNvPr id="28" name="Shape 26"/>
          <p:cNvSpPr/>
          <p:nvPr/>
        </p:nvSpPr>
        <p:spPr>
          <a:xfrm>
            <a:off x="4663440" y="914400"/>
            <a:ext cx="4206240" cy="868680"/>
          </a:xfrm>
          <a:prstGeom prst="roundRect">
            <a:avLst>
              <a:gd name="adj" fmla="val 8421"/>
            </a:avLst>
          </a:prstGeom>
          <a:solidFill>
            <a:srgbClr val="1A2E45"/>
          </a:solidFill>
          <a:ln w="19050">
            <a:solidFill>
              <a:srgbClr val="028090"/>
            </a:solidFill>
            <a:prstDash val="solid"/>
          </a:ln>
        </p:spPr>
      </p:sp>
      <p:sp>
        <p:nvSpPr>
          <p:cNvPr id="29" name="Shape 27"/>
          <p:cNvSpPr/>
          <p:nvPr/>
        </p:nvSpPr>
        <p:spPr>
          <a:xfrm>
            <a:off x="4754880" y="1097280"/>
            <a:ext cx="502920" cy="502920"/>
          </a:xfrm>
          <a:prstGeom prst="ellipse">
            <a:avLst/>
          </a:prstGeom>
          <a:solidFill>
            <a:srgbClr val="028090"/>
          </a:solidFill>
          <a:ln w="12700">
            <a:solidFill>
              <a:srgbClr val="028090"/>
            </a:solidFill>
            <a:prstDash val="solid"/>
          </a:ln>
        </p:spPr>
      </p:sp>
      <p:sp>
        <p:nvSpPr>
          <p:cNvPr id="30" name="Text 28"/>
          <p:cNvSpPr/>
          <p:nvPr/>
        </p:nvSpPr>
        <p:spPr>
          <a:xfrm>
            <a:off x="4754880" y="1097280"/>
            <a:ext cx="502920" cy="5029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5349240" y="960120"/>
            <a:ext cx="33832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XGBoost</a:t>
            </a:r>
            <a:endParaRPr lang="en-US" sz="1200" dirty="0"/>
          </a:p>
        </p:txBody>
      </p:sp>
      <p:sp>
        <p:nvSpPr>
          <p:cNvPr id="32" name="Text 30"/>
          <p:cNvSpPr/>
          <p:nvPr/>
        </p:nvSpPr>
        <p:spPr>
          <a:xfrm>
            <a:off x="5349240" y="1207008"/>
            <a:ext cx="3383280" cy="201168"/>
          </a:xfrm>
          <a:prstGeom prst="rect">
            <a:avLst/>
          </a:prstGeom>
          <a:noFill/>
          <a:ln/>
        </p:spPr>
        <p:txBody>
          <a:bodyPr wrap="square" lIns="0" tIns="0" rIns="0" bIns="0" rtlCol="0" anchor="ctr"/>
          <a:lstStyle/>
          <a:p>
            <a:pPr indent="0" marL="0">
              <a:buNone/>
            </a:pPr>
            <a:r>
              <a:rPr lang="en-US" sz="1000" dirty="0">
                <a:solidFill>
                  <a:srgbClr val="028090"/>
                </a:solidFill>
                <a:latin typeface="Calibri" pitchFamily="34" charset="0"/>
                <a:ea typeface="Calibri" pitchFamily="34" charset="-122"/>
                <a:cs typeface="Calibri" pitchFamily="34" charset="-120"/>
              </a:rPr>
              <a:t>+ SMOTE</a:t>
            </a:r>
            <a:endParaRPr lang="en-US" sz="1000" dirty="0"/>
          </a:p>
        </p:txBody>
      </p:sp>
      <p:sp>
        <p:nvSpPr>
          <p:cNvPr id="33" name="Text 31"/>
          <p:cNvSpPr/>
          <p:nvPr/>
        </p:nvSpPr>
        <p:spPr>
          <a:xfrm>
            <a:off x="5349240" y="1408176"/>
            <a:ext cx="338328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Better minority class</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representation</a:t>
            </a:r>
            <a:endParaRPr lang="en-US" sz="900" dirty="0"/>
          </a:p>
        </p:txBody>
      </p:sp>
      <p:sp>
        <p:nvSpPr>
          <p:cNvPr id="34" name="Shape 32"/>
          <p:cNvSpPr/>
          <p:nvPr/>
        </p:nvSpPr>
        <p:spPr>
          <a:xfrm>
            <a:off x="4663440" y="1965960"/>
            <a:ext cx="4206240" cy="868680"/>
          </a:xfrm>
          <a:prstGeom prst="roundRect">
            <a:avLst>
              <a:gd name="adj" fmla="val 8421"/>
            </a:avLst>
          </a:prstGeom>
          <a:solidFill>
            <a:srgbClr val="1A2E45"/>
          </a:solidFill>
          <a:ln w="19050">
            <a:solidFill>
              <a:srgbClr val="02C39A"/>
            </a:solidFill>
            <a:prstDash val="solid"/>
          </a:ln>
        </p:spPr>
      </p:sp>
      <p:sp>
        <p:nvSpPr>
          <p:cNvPr id="35" name="Shape 33"/>
          <p:cNvSpPr/>
          <p:nvPr/>
        </p:nvSpPr>
        <p:spPr>
          <a:xfrm>
            <a:off x="4754880" y="2148840"/>
            <a:ext cx="502920" cy="502920"/>
          </a:xfrm>
          <a:prstGeom prst="ellipse">
            <a:avLst/>
          </a:prstGeom>
          <a:solidFill>
            <a:srgbClr val="02C39A"/>
          </a:solidFill>
          <a:ln w="12700">
            <a:solidFill>
              <a:srgbClr val="02C39A"/>
            </a:solidFill>
            <a:prstDash val="solid"/>
          </a:ln>
        </p:spPr>
      </p:sp>
      <p:sp>
        <p:nvSpPr>
          <p:cNvPr id="36" name="Text 34"/>
          <p:cNvSpPr/>
          <p:nvPr/>
        </p:nvSpPr>
        <p:spPr>
          <a:xfrm>
            <a:off x="4754880" y="2148840"/>
            <a:ext cx="502920" cy="5029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5349240" y="2011680"/>
            <a:ext cx="33832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XGBoost</a:t>
            </a:r>
            <a:endParaRPr lang="en-US" sz="1200" dirty="0"/>
          </a:p>
        </p:txBody>
      </p:sp>
      <p:sp>
        <p:nvSpPr>
          <p:cNvPr id="38" name="Text 36"/>
          <p:cNvSpPr/>
          <p:nvPr/>
        </p:nvSpPr>
        <p:spPr>
          <a:xfrm>
            <a:off x="5349240" y="2258568"/>
            <a:ext cx="3383280" cy="201168"/>
          </a:xfrm>
          <a:prstGeom prst="rect">
            <a:avLst/>
          </a:prstGeom>
          <a:noFill/>
          <a:ln/>
        </p:spPr>
        <p:txBody>
          <a:bodyPr wrap="square" lIns="0" tIns="0" rIns="0" bIns="0" rtlCol="0" anchor="ctr"/>
          <a:lstStyle/>
          <a:p>
            <a:pPr indent="0" marL="0">
              <a:buNone/>
            </a:pPr>
            <a:r>
              <a:rPr lang="en-US" sz="1000" dirty="0">
                <a:solidFill>
                  <a:srgbClr val="02C39A"/>
                </a:solidFill>
                <a:latin typeface="Calibri" pitchFamily="34" charset="0"/>
                <a:ea typeface="Calibri" pitchFamily="34" charset="-122"/>
                <a:cs typeface="Calibri" pitchFamily="34" charset="-120"/>
              </a:rPr>
              <a:t>+ SMOTE + SelectFromModel</a:t>
            </a:r>
            <a:endParaRPr lang="en-US" sz="1000" dirty="0"/>
          </a:p>
        </p:txBody>
      </p:sp>
      <p:sp>
        <p:nvSpPr>
          <p:cNvPr id="39" name="Text 37"/>
          <p:cNvSpPr/>
          <p:nvPr/>
        </p:nvSpPr>
        <p:spPr>
          <a:xfrm>
            <a:off x="5349240" y="2459736"/>
            <a:ext cx="338328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Feature selection</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2193 → 184 features</a:t>
            </a:r>
            <a:endParaRPr lang="en-US" sz="900" dirty="0"/>
          </a:p>
        </p:txBody>
      </p:sp>
      <p:sp>
        <p:nvSpPr>
          <p:cNvPr id="40" name="Shape 38"/>
          <p:cNvSpPr/>
          <p:nvPr/>
        </p:nvSpPr>
        <p:spPr>
          <a:xfrm>
            <a:off x="4663440" y="3017520"/>
            <a:ext cx="4206240" cy="868680"/>
          </a:xfrm>
          <a:prstGeom prst="roundRect">
            <a:avLst>
              <a:gd name="adj" fmla="val 8421"/>
            </a:avLst>
          </a:prstGeom>
          <a:solidFill>
            <a:srgbClr val="1A2E45"/>
          </a:solidFill>
          <a:ln w="19050">
            <a:solidFill>
              <a:srgbClr val="10B981"/>
            </a:solidFill>
            <a:prstDash val="solid"/>
          </a:ln>
        </p:spPr>
      </p:sp>
      <p:sp>
        <p:nvSpPr>
          <p:cNvPr id="41" name="Shape 39"/>
          <p:cNvSpPr/>
          <p:nvPr/>
        </p:nvSpPr>
        <p:spPr>
          <a:xfrm>
            <a:off x="4754880" y="3200400"/>
            <a:ext cx="502920" cy="502920"/>
          </a:xfrm>
          <a:prstGeom prst="ellipse">
            <a:avLst/>
          </a:prstGeom>
          <a:solidFill>
            <a:srgbClr val="10B981"/>
          </a:solidFill>
          <a:ln w="12700">
            <a:solidFill>
              <a:srgbClr val="10B981"/>
            </a:solidFill>
            <a:prstDash val="solid"/>
          </a:ln>
        </p:spPr>
      </p:sp>
      <p:sp>
        <p:nvSpPr>
          <p:cNvPr id="42" name="Text 40"/>
          <p:cNvSpPr/>
          <p:nvPr/>
        </p:nvSpPr>
        <p:spPr>
          <a:xfrm>
            <a:off x="4754880" y="3200400"/>
            <a:ext cx="502920" cy="50292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7</a:t>
            </a:r>
            <a:endParaRPr lang="en-US" sz="1200" dirty="0"/>
          </a:p>
        </p:txBody>
      </p:sp>
      <p:sp>
        <p:nvSpPr>
          <p:cNvPr id="43" name="Text 41"/>
          <p:cNvSpPr/>
          <p:nvPr/>
        </p:nvSpPr>
        <p:spPr>
          <a:xfrm>
            <a:off x="5349240" y="3063240"/>
            <a:ext cx="33832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XGBoost</a:t>
            </a:r>
            <a:endParaRPr lang="en-US" sz="1200" dirty="0"/>
          </a:p>
        </p:txBody>
      </p:sp>
      <p:sp>
        <p:nvSpPr>
          <p:cNvPr id="44" name="Text 42"/>
          <p:cNvSpPr/>
          <p:nvPr/>
        </p:nvSpPr>
        <p:spPr>
          <a:xfrm>
            <a:off x="5349240" y="3310128"/>
            <a:ext cx="3383280" cy="201168"/>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 SMOTE + SFM + RandomSearchCV</a:t>
            </a:r>
            <a:endParaRPr lang="en-US" sz="1000" dirty="0"/>
          </a:p>
        </p:txBody>
      </p:sp>
      <p:sp>
        <p:nvSpPr>
          <p:cNvPr id="45" name="Text 43"/>
          <p:cNvSpPr/>
          <p:nvPr/>
        </p:nvSpPr>
        <p:spPr>
          <a:xfrm>
            <a:off x="5349240" y="3511296"/>
            <a:ext cx="338328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Hyperparameter tuning</a:t>
            </a:r>
            <a:endParaRPr lang="en-US" sz="900" dirty="0"/>
          </a:p>
          <a:p>
            <a:pPr indent="0" marL="0">
              <a:buNone/>
            </a:pPr>
            <a:r>
              <a:rPr lang="en-US" sz="900" dirty="0">
                <a:solidFill>
                  <a:srgbClr val="64748B"/>
                </a:solidFill>
                <a:latin typeface="Calibri" pitchFamily="34" charset="0"/>
                <a:ea typeface="Calibri" pitchFamily="34" charset="-122"/>
                <a:cs typeface="Calibri" pitchFamily="34" charset="-120"/>
              </a:rPr>
              <a:t>BEST MODEL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Handling Class Imbalance</a:t>
            </a:r>
            <a:endParaRPr lang="en-US" sz="2400" dirty="0"/>
          </a:p>
        </p:txBody>
      </p:sp>
      <p:sp>
        <p:nvSpPr>
          <p:cNvPr id="4" name="Shape 2"/>
          <p:cNvSpPr/>
          <p:nvPr/>
        </p:nvSpPr>
        <p:spPr>
          <a:xfrm>
            <a:off x="365760" y="914400"/>
            <a:ext cx="4114800" cy="3977640"/>
          </a:xfrm>
          <a:prstGeom prst="roundRect">
            <a:avLst>
              <a:gd name="adj" fmla="val 2299"/>
            </a:avLst>
          </a:prstGeom>
          <a:solidFill>
            <a:srgbClr val="FFFFFF"/>
          </a:solidFill>
          <a:ln w="25400">
            <a:solidFill>
              <a:srgbClr val="F4A261"/>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365760" y="914400"/>
            <a:ext cx="4114800" cy="502920"/>
          </a:xfrm>
          <a:prstGeom prst="rect">
            <a:avLst/>
          </a:prstGeom>
          <a:solidFill>
            <a:srgbClr val="F4A261"/>
          </a:solidFill>
          <a:ln w="12700">
            <a:solidFill>
              <a:srgbClr val="F4A261"/>
            </a:solidFill>
            <a:prstDash val="solid"/>
          </a:ln>
        </p:spPr>
      </p:sp>
      <p:sp>
        <p:nvSpPr>
          <p:cNvPr id="6" name="Text 4"/>
          <p:cNvSpPr/>
          <p:nvPr/>
        </p:nvSpPr>
        <p:spPr>
          <a:xfrm>
            <a:off x="502920" y="969264"/>
            <a:ext cx="38404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Approach 1: Class Weights</a:t>
            </a:r>
            <a:endParaRPr lang="en-US" sz="1300" dirty="0"/>
          </a:p>
        </p:txBody>
      </p:sp>
      <p:sp>
        <p:nvSpPr>
          <p:cNvPr id="7" name="Text 5"/>
          <p:cNvSpPr/>
          <p:nvPr/>
        </p:nvSpPr>
        <p:spPr>
          <a:xfrm>
            <a:off x="502920" y="1508760"/>
            <a:ext cx="3840480" cy="10058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Penalizes the model more heavily for misclassifying minority class. Used in Logistic Regression (class_weight='balanced') and XGBoost (scale_pos_weight).</a:t>
            </a:r>
            <a:endParaRPr lang="en-US" sz="1100" dirty="0"/>
          </a:p>
        </p:txBody>
      </p:sp>
      <p:sp>
        <p:nvSpPr>
          <p:cNvPr id="8" name="Text 6"/>
          <p:cNvSpPr/>
          <p:nvPr/>
        </p:nvSpPr>
        <p:spPr>
          <a:xfrm>
            <a:off x="502920" y="2606040"/>
            <a:ext cx="3840480" cy="274320"/>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Advantages:</a:t>
            </a:r>
            <a:endParaRPr lang="en-US" sz="1200" dirty="0"/>
          </a:p>
        </p:txBody>
      </p:sp>
      <p:sp>
        <p:nvSpPr>
          <p:cNvPr id="9" name="Text 7"/>
          <p:cNvSpPr/>
          <p:nvPr/>
        </p:nvSpPr>
        <p:spPr>
          <a:xfrm>
            <a:off x="502920" y="2926080"/>
            <a:ext cx="3840480" cy="91440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No data augmentation needed</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Computationally efficient</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Works well with imbalance ratio</a:t>
            </a:r>
            <a:endParaRPr lang="en-US" sz="1100" dirty="0"/>
          </a:p>
        </p:txBody>
      </p:sp>
      <p:sp>
        <p:nvSpPr>
          <p:cNvPr id="10" name="Shape 8"/>
          <p:cNvSpPr/>
          <p:nvPr/>
        </p:nvSpPr>
        <p:spPr>
          <a:xfrm>
            <a:off x="4754880" y="914400"/>
            <a:ext cx="4114800" cy="3977640"/>
          </a:xfrm>
          <a:prstGeom prst="roundRect">
            <a:avLst>
              <a:gd name="adj" fmla="val 2299"/>
            </a:avLst>
          </a:prstGeom>
          <a:solidFill>
            <a:srgbClr val="FFFFFF"/>
          </a:solidFill>
          <a:ln w="25400">
            <a:solidFill>
              <a:srgbClr val="02809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754880" y="914400"/>
            <a:ext cx="4114800" cy="502920"/>
          </a:xfrm>
          <a:prstGeom prst="rect">
            <a:avLst/>
          </a:prstGeom>
          <a:solidFill>
            <a:srgbClr val="028090"/>
          </a:solidFill>
          <a:ln w="12700">
            <a:solidFill>
              <a:srgbClr val="028090"/>
            </a:solidFill>
            <a:prstDash val="solid"/>
          </a:ln>
        </p:spPr>
      </p:sp>
      <p:sp>
        <p:nvSpPr>
          <p:cNvPr id="12" name="Text 10"/>
          <p:cNvSpPr/>
          <p:nvPr/>
        </p:nvSpPr>
        <p:spPr>
          <a:xfrm>
            <a:off x="4892040" y="969264"/>
            <a:ext cx="38404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Approach 2: SMOTE</a:t>
            </a:r>
            <a:endParaRPr lang="en-US" sz="1300" dirty="0"/>
          </a:p>
        </p:txBody>
      </p:sp>
      <p:sp>
        <p:nvSpPr>
          <p:cNvPr id="13" name="Text 11"/>
          <p:cNvSpPr/>
          <p:nvPr/>
        </p:nvSpPr>
        <p:spPr>
          <a:xfrm>
            <a:off x="4892040" y="1508760"/>
            <a:ext cx="3840480" cy="10058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Synthetic Minority Over-sampling Technique. Creates synthetic fraud samples by interpolating between existing fraud cases.</a:t>
            </a:r>
            <a:endParaRPr lang="en-US" sz="1100" dirty="0"/>
          </a:p>
        </p:txBody>
      </p:sp>
      <p:sp>
        <p:nvSpPr>
          <p:cNvPr id="14" name="Text 12"/>
          <p:cNvSpPr/>
          <p:nvPr/>
        </p:nvSpPr>
        <p:spPr>
          <a:xfrm>
            <a:off x="4892040" y="2606040"/>
            <a:ext cx="3840480" cy="274320"/>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Advantages:</a:t>
            </a:r>
            <a:endParaRPr lang="en-US" sz="1200" dirty="0"/>
          </a:p>
        </p:txBody>
      </p:sp>
      <p:sp>
        <p:nvSpPr>
          <p:cNvPr id="15" name="Text 13"/>
          <p:cNvSpPr/>
          <p:nvPr/>
        </p:nvSpPr>
        <p:spPr>
          <a:xfrm>
            <a:off x="4892040" y="2926080"/>
            <a:ext cx="3840480" cy="91440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Balances class distribution directly</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Reduces model bias toward majority class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Improved recall for fraud class</a:t>
            </a:r>
            <a:endParaRPr lang="en-US" sz="1100" dirty="0"/>
          </a:p>
        </p:txBody>
      </p:sp>
      <p:sp>
        <p:nvSpPr>
          <p:cNvPr id="16" name="Shape 14"/>
          <p:cNvSpPr/>
          <p:nvPr/>
        </p:nvSpPr>
        <p:spPr>
          <a:xfrm>
            <a:off x="365760" y="4617720"/>
            <a:ext cx="8412480" cy="365760"/>
          </a:xfrm>
          <a:prstGeom prst="roundRect">
            <a:avLst>
              <a:gd name="adj" fmla="val 15000"/>
            </a:avLst>
          </a:prstGeom>
          <a:solidFill>
            <a:srgbClr val="0D1B2A"/>
          </a:solidFill>
          <a:ln w="12700">
            <a:solidFill>
              <a:srgbClr val="0D1B2A"/>
            </a:solidFill>
            <a:prstDash val="solid"/>
          </a:ln>
        </p:spPr>
      </p:sp>
      <p:sp>
        <p:nvSpPr>
          <p:cNvPr id="17" name="Text 15"/>
          <p:cNvSpPr/>
          <p:nvPr/>
        </p:nvSpPr>
        <p:spPr>
          <a:xfrm>
            <a:off x="457200" y="4663440"/>
            <a:ext cx="8229600" cy="27432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SMOTE outperformed class weights — used in all final XGBoost models for better recall on fraud class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 Comparison Results</a:t>
            </a:r>
            <a:endParaRPr lang="en-US" sz="2400" dirty="0"/>
          </a:p>
        </p:txBody>
      </p:sp>
      <p:graphicFrame>
        <p:nvGraphicFramePr>
          <p:cNvPr id="4" name="Chart 0" descr=""/>
          <p:cNvGraphicFramePr/>
          <p:nvPr/>
        </p:nvGraphicFramePr>
        <p:xfrm>
          <a:off x="274320" y="822960"/>
          <a:ext cx="539496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760720" y="822960"/>
          <a:ext cx="3200400" cy="28346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274320" y="3794760"/>
            <a:ext cx="2788920" cy="1097280"/>
          </a:xfrm>
          <a:prstGeom prst="roundRect">
            <a:avLst>
              <a:gd name="adj" fmla="val 6667"/>
            </a:avLst>
          </a:prstGeom>
          <a:solidFill>
            <a:srgbClr val="0D1B2A"/>
          </a:solidFill>
          <a:ln w="25400">
            <a:solidFill>
              <a:srgbClr val="10B981"/>
            </a:solidFill>
            <a:prstDash val="solid"/>
          </a:ln>
        </p:spPr>
      </p:sp>
      <p:sp>
        <p:nvSpPr>
          <p:cNvPr id="7" name="Text 3"/>
          <p:cNvSpPr/>
          <p:nvPr/>
        </p:nvSpPr>
        <p:spPr>
          <a:xfrm>
            <a:off x="274320" y="3840480"/>
            <a:ext cx="2788920" cy="50292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0.538</a:t>
            </a:r>
            <a:endParaRPr lang="en-US" sz="2800" dirty="0"/>
          </a:p>
        </p:txBody>
      </p:sp>
      <p:sp>
        <p:nvSpPr>
          <p:cNvPr id="8" name="Text 4"/>
          <p:cNvSpPr/>
          <p:nvPr/>
        </p:nvSpPr>
        <p:spPr>
          <a:xfrm>
            <a:off x="274320" y="4315968"/>
            <a:ext cx="278892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Best F1</a:t>
            </a:r>
            <a:endParaRPr lang="en-US" sz="1100" dirty="0"/>
          </a:p>
        </p:txBody>
      </p:sp>
      <p:sp>
        <p:nvSpPr>
          <p:cNvPr id="9" name="Text 5"/>
          <p:cNvSpPr/>
          <p:nvPr/>
        </p:nvSpPr>
        <p:spPr>
          <a:xfrm>
            <a:off x="274320" y="4544568"/>
            <a:ext cx="278892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XGB + SMOTE + SFM + RSCV</a:t>
            </a:r>
            <a:endParaRPr lang="en-US" sz="900" dirty="0"/>
          </a:p>
        </p:txBody>
      </p:sp>
      <p:sp>
        <p:nvSpPr>
          <p:cNvPr id="10" name="Shape 6"/>
          <p:cNvSpPr/>
          <p:nvPr/>
        </p:nvSpPr>
        <p:spPr>
          <a:xfrm>
            <a:off x="3246120" y="3794760"/>
            <a:ext cx="2788920" cy="1097280"/>
          </a:xfrm>
          <a:prstGeom prst="roundRect">
            <a:avLst>
              <a:gd name="adj" fmla="val 6667"/>
            </a:avLst>
          </a:prstGeom>
          <a:solidFill>
            <a:srgbClr val="0D1B2A"/>
          </a:solidFill>
          <a:ln w="25400">
            <a:solidFill>
              <a:srgbClr val="028090"/>
            </a:solidFill>
            <a:prstDash val="solid"/>
          </a:ln>
        </p:spPr>
      </p:sp>
      <p:sp>
        <p:nvSpPr>
          <p:cNvPr id="11" name="Text 7"/>
          <p:cNvSpPr/>
          <p:nvPr/>
        </p:nvSpPr>
        <p:spPr>
          <a:xfrm>
            <a:off x="3246120" y="3840480"/>
            <a:ext cx="2788920" cy="502920"/>
          </a:xfrm>
          <a:prstGeom prst="rect">
            <a:avLst/>
          </a:prstGeom>
          <a:noFill/>
          <a:ln/>
        </p:spPr>
        <p:txBody>
          <a:bodyPr wrap="square" lIns="0" tIns="0" rIns="0" bIns="0" rtlCol="0" anchor="ctr"/>
          <a:lstStyle/>
          <a:p>
            <a:pPr algn="ctr" indent="0" marL="0">
              <a:buNone/>
            </a:pPr>
            <a:r>
              <a:rPr lang="en-US" sz="2800" b="1" dirty="0">
                <a:solidFill>
                  <a:srgbClr val="028090"/>
                </a:solidFill>
                <a:latin typeface="Calibri" pitchFamily="34" charset="0"/>
                <a:ea typeface="Calibri" pitchFamily="34" charset="-122"/>
                <a:cs typeface="Calibri" pitchFamily="34" charset="-120"/>
              </a:rPr>
              <a:t>0.983</a:t>
            </a:r>
            <a:endParaRPr lang="en-US" sz="2800" dirty="0"/>
          </a:p>
        </p:txBody>
      </p:sp>
      <p:sp>
        <p:nvSpPr>
          <p:cNvPr id="12" name="Text 8"/>
          <p:cNvSpPr/>
          <p:nvPr/>
        </p:nvSpPr>
        <p:spPr>
          <a:xfrm>
            <a:off x="3246120" y="4315968"/>
            <a:ext cx="278892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Best AUC</a:t>
            </a:r>
            <a:endParaRPr lang="en-US" sz="1100" dirty="0"/>
          </a:p>
        </p:txBody>
      </p:sp>
      <p:sp>
        <p:nvSpPr>
          <p:cNvPr id="13" name="Text 9"/>
          <p:cNvSpPr/>
          <p:nvPr/>
        </p:nvSpPr>
        <p:spPr>
          <a:xfrm>
            <a:off x="3246120" y="4544568"/>
            <a:ext cx="278892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Final tuned model</a:t>
            </a:r>
            <a:endParaRPr lang="en-US" sz="900" dirty="0"/>
          </a:p>
        </p:txBody>
      </p:sp>
      <p:sp>
        <p:nvSpPr>
          <p:cNvPr id="14" name="Shape 10"/>
          <p:cNvSpPr/>
          <p:nvPr/>
        </p:nvSpPr>
        <p:spPr>
          <a:xfrm>
            <a:off x="6217920" y="3794760"/>
            <a:ext cx="2788920" cy="1097280"/>
          </a:xfrm>
          <a:prstGeom prst="roundRect">
            <a:avLst>
              <a:gd name="adj" fmla="val 6667"/>
            </a:avLst>
          </a:prstGeom>
          <a:solidFill>
            <a:srgbClr val="0D1B2A"/>
          </a:solidFill>
          <a:ln w="25400">
            <a:solidFill>
              <a:srgbClr val="F4A261"/>
            </a:solidFill>
            <a:prstDash val="solid"/>
          </a:ln>
        </p:spPr>
      </p:sp>
      <p:sp>
        <p:nvSpPr>
          <p:cNvPr id="15" name="Text 11"/>
          <p:cNvSpPr/>
          <p:nvPr/>
        </p:nvSpPr>
        <p:spPr>
          <a:xfrm>
            <a:off x="6217920" y="3840480"/>
            <a:ext cx="2788920" cy="502920"/>
          </a:xfrm>
          <a:prstGeom prst="rect">
            <a:avLst/>
          </a:prstGeom>
          <a:noFill/>
          <a:ln/>
        </p:spPr>
        <p:txBody>
          <a:bodyPr wrap="square" lIns="0" tIns="0" rIns="0" bIns="0" rtlCol="0" anchor="ctr"/>
          <a:lstStyle/>
          <a:p>
            <a:pPr algn="ctr" indent="0" marL="0">
              <a:buNone/>
            </a:pPr>
            <a:r>
              <a:rPr lang="en-US" sz="2800" b="1" dirty="0">
                <a:solidFill>
                  <a:srgbClr val="F4A261"/>
                </a:solidFill>
                <a:latin typeface="Calibri" pitchFamily="34" charset="0"/>
                <a:ea typeface="Calibri" pitchFamily="34" charset="-122"/>
                <a:cs typeface="Calibri" pitchFamily="34" charset="-120"/>
              </a:rPr>
              <a:t>91.6%</a:t>
            </a:r>
            <a:endParaRPr lang="en-US" sz="2800" dirty="0"/>
          </a:p>
        </p:txBody>
      </p:sp>
      <p:sp>
        <p:nvSpPr>
          <p:cNvPr id="16" name="Text 12"/>
          <p:cNvSpPr/>
          <p:nvPr/>
        </p:nvSpPr>
        <p:spPr>
          <a:xfrm>
            <a:off x="6217920" y="4315968"/>
            <a:ext cx="278892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Reduction</a:t>
            </a:r>
            <a:endParaRPr lang="en-US" sz="1100" dirty="0"/>
          </a:p>
        </p:txBody>
      </p:sp>
      <p:sp>
        <p:nvSpPr>
          <p:cNvPr id="17" name="Text 13"/>
          <p:cNvSpPr/>
          <p:nvPr/>
        </p:nvSpPr>
        <p:spPr>
          <a:xfrm>
            <a:off x="6217920" y="4544568"/>
            <a:ext cx="2788920" cy="22860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2193 → 184 features via SFM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0B981"/>
          </a:solidFill>
          <a:ln w="12700">
            <a:solidFill>
              <a:srgbClr val="10B981"/>
            </a:solidFill>
            <a:prstDash val="solid"/>
          </a:ln>
        </p:spPr>
      </p:sp>
      <p:sp>
        <p:nvSpPr>
          <p:cNvPr id="3" name="Text 1"/>
          <p:cNvSpPr/>
          <p:nvPr/>
        </p:nvSpPr>
        <p:spPr>
          <a:xfrm>
            <a:off x="365760" y="91440"/>
            <a:ext cx="841248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  Final Model: XGBoost + SMOTE + SelectFromModel + RandomSearchCV</a:t>
            </a:r>
            <a:endParaRPr lang="en-US" sz="2000" dirty="0"/>
          </a:p>
        </p:txBody>
      </p:sp>
      <p:sp>
        <p:nvSpPr>
          <p:cNvPr id="4" name="Shape 2"/>
          <p:cNvSpPr/>
          <p:nvPr/>
        </p:nvSpPr>
        <p:spPr>
          <a:xfrm>
            <a:off x="274320" y="914400"/>
            <a:ext cx="4114800" cy="1097280"/>
          </a:xfrm>
          <a:prstGeom prst="roundRect">
            <a:avLst>
              <a:gd name="adj" fmla="val 6667"/>
            </a:avLst>
          </a:prstGeom>
          <a:solidFill>
            <a:srgbClr val="1A2E45"/>
          </a:solidFill>
          <a:ln w="12700">
            <a:solidFill>
              <a:srgbClr val="10B981"/>
            </a:solidFill>
            <a:prstDash val="solid"/>
          </a:ln>
        </p:spPr>
      </p:sp>
      <p:sp>
        <p:nvSpPr>
          <p:cNvPr id="5" name="Text 3"/>
          <p:cNvSpPr/>
          <p:nvPr/>
        </p:nvSpPr>
        <p:spPr>
          <a:xfrm>
            <a:off x="274320" y="987552"/>
            <a:ext cx="4114800" cy="594360"/>
          </a:xfrm>
          <a:prstGeom prst="rect">
            <a:avLst/>
          </a:prstGeom>
          <a:noFill/>
          <a:ln/>
        </p:spPr>
        <p:txBody>
          <a:bodyPr wrap="square" lIns="0" tIns="0" rIns="0" bIns="0"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0.538</a:t>
            </a:r>
            <a:endParaRPr lang="en-US" sz="3600" dirty="0"/>
          </a:p>
        </p:txBody>
      </p:sp>
      <p:sp>
        <p:nvSpPr>
          <p:cNvPr id="6" name="Text 4"/>
          <p:cNvSpPr/>
          <p:nvPr/>
        </p:nvSpPr>
        <p:spPr>
          <a:xfrm>
            <a:off x="274320" y="1554480"/>
            <a:ext cx="411480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F1 Score</a:t>
            </a:r>
            <a:endParaRPr lang="en-US" sz="1300" dirty="0"/>
          </a:p>
        </p:txBody>
      </p:sp>
      <p:sp>
        <p:nvSpPr>
          <p:cNvPr id="7" name="Text 5"/>
          <p:cNvSpPr/>
          <p:nvPr/>
        </p:nvSpPr>
        <p:spPr>
          <a:xfrm>
            <a:off x="274320" y="1764792"/>
            <a:ext cx="4114800" cy="20116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balance of Precision &amp; Recall</a:t>
            </a:r>
            <a:endParaRPr lang="en-US" sz="1000" dirty="0"/>
          </a:p>
        </p:txBody>
      </p:sp>
      <p:sp>
        <p:nvSpPr>
          <p:cNvPr id="8" name="Shape 6"/>
          <p:cNvSpPr/>
          <p:nvPr/>
        </p:nvSpPr>
        <p:spPr>
          <a:xfrm>
            <a:off x="4663440" y="914400"/>
            <a:ext cx="4114800" cy="1097280"/>
          </a:xfrm>
          <a:prstGeom prst="roundRect">
            <a:avLst>
              <a:gd name="adj" fmla="val 6667"/>
            </a:avLst>
          </a:prstGeom>
          <a:solidFill>
            <a:srgbClr val="1A2E45"/>
          </a:solidFill>
          <a:ln w="12700">
            <a:solidFill>
              <a:srgbClr val="10B981"/>
            </a:solidFill>
            <a:prstDash val="solid"/>
          </a:ln>
        </p:spPr>
      </p:sp>
      <p:sp>
        <p:nvSpPr>
          <p:cNvPr id="9" name="Text 7"/>
          <p:cNvSpPr/>
          <p:nvPr/>
        </p:nvSpPr>
        <p:spPr>
          <a:xfrm>
            <a:off x="4663440" y="987552"/>
            <a:ext cx="4114800" cy="594360"/>
          </a:xfrm>
          <a:prstGeom prst="rect">
            <a:avLst/>
          </a:prstGeom>
          <a:noFill/>
          <a:ln/>
        </p:spPr>
        <p:txBody>
          <a:bodyPr wrap="square" lIns="0" tIns="0" rIns="0" bIns="0"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0.983</a:t>
            </a:r>
            <a:endParaRPr lang="en-US" sz="3600" dirty="0"/>
          </a:p>
        </p:txBody>
      </p:sp>
      <p:sp>
        <p:nvSpPr>
          <p:cNvPr id="10" name="Text 8"/>
          <p:cNvSpPr/>
          <p:nvPr/>
        </p:nvSpPr>
        <p:spPr>
          <a:xfrm>
            <a:off x="4663440" y="1554480"/>
            <a:ext cx="411480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p>
        </p:txBody>
      </p:sp>
      <p:sp>
        <p:nvSpPr>
          <p:cNvPr id="11" name="Text 9"/>
          <p:cNvSpPr/>
          <p:nvPr/>
        </p:nvSpPr>
        <p:spPr>
          <a:xfrm>
            <a:off x="4663440" y="1764792"/>
            <a:ext cx="4114800" cy="20116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Near-perfect discrimination ability</a:t>
            </a:r>
            <a:endParaRPr lang="en-US" sz="1000" dirty="0"/>
          </a:p>
        </p:txBody>
      </p:sp>
      <p:sp>
        <p:nvSpPr>
          <p:cNvPr id="12" name="Shape 10"/>
          <p:cNvSpPr/>
          <p:nvPr/>
        </p:nvSpPr>
        <p:spPr>
          <a:xfrm>
            <a:off x="274320" y="2194560"/>
            <a:ext cx="4114800" cy="1097280"/>
          </a:xfrm>
          <a:prstGeom prst="roundRect">
            <a:avLst>
              <a:gd name="adj" fmla="val 6667"/>
            </a:avLst>
          </a:prstGeom>
          <a:solidFill>
            <a:srgbClr val="1A2E45"/>
          </a:solidFill>
          <a:ln w="12700">
            <a:solidFill>
              <a:srgbClr val="10B981"/>
            </a:solidFill>
            <a:prstDash val="solid"/>
          </a:ln>
        </p:spPr>
      </p:sp>
      <p:sp>
        <p:nvSpPr>
          <p:cNvPr id="13" name="Text 11"/>
          <p:cNvSpPr/>
          <p:nvPr/>
        </p:nvSpPr>
        <p:spPr>
          <a:xfrm>
            <a:off x="274320" y="2267712"/>
            <a:ext cx="4114800" cy="594360"/>
          </a:xfrm>
          <a:prstGeom prst="rect">
            <a:avLst/>
          </a:prstGeom>
          <a:noFill/>
          <a:ln/>
        </p:spPr>
        <p:txBody>
          <a:bodyPr wrap="square" lIns="0" tIns="0" rIns="0" bIns="0"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40.2%</a:t>
            </a:r>
            <a:endParaRPr lang="en-US" sz="3600" dirty="0"/>
          </a:p>
        </p:txBody>
      </p:sp>
      <p:sp>
        <p:nvSpPr>
          <p:cNvPr id="14" name="Text 12"/>
          <p:cNvSpPr/>
          <p:nvPr/>
        </p:nvSpPr>
        <p:spPr>
          <a:xfrm>
            <a:off x="274320" y="2834640"/>
            <a:ext cx="411480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5" name="Text 13"/>
          <p:cNvSpPr/>
          <p:nvPr/>
        </p:nvSpPr>
        <p:spPr>
          <a:xfrm>
            <a:off x="274320" y="3044952"/>
            <a:ext cx="4114800" cy="20116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Of flagged txns are truly fraud</a:t>
            </a:r>
            <a:endParaRPr lang="en-US" sz="1000" dirty="0"/>
          </a:p>
        </p:txBody>
      </p:sp>
      <p:sp>
        <p:nvSpPr>
          <p:cNvPr id="16" name="Shape 14"/>
          <p:cNvSpPr/>
          <p:nvPr/>
        </p:nvSpPr>
        <p:spPr>
          <a:xfrm>
            <a:off x="4663440" y="2194560"/>
            <a:ext cx="4114800" cy="1097280"/>
          </a:xfrm>
          <a:prstGeom prst="roundRect">
            <a:avLst>
              <a:gd name="adj" fmla="val 6667"/>
            </a:avLst>
          </a:prstGeom>
          <a:solidFill>
            <a:srgbClr val="1A2E45"/>
          </a:solidFill>
          <a:ln w="12700">
            <a:solidFill>
              <a:srgbClr val="10B981"/>
            </a:solidFill>
            <a:prstDash val="solid"/>
          </a:ln>
        </p:spPr>
      </p:sp>
      <p:sp>
        <p:nvSpPr>
          <p:cNvPr id="17" name="Text 15"/>
          <p:cNvSpPr/>
          <p:nvPr/>
        </p:nvSpPr>
        <p:spPr>
          <a:xfrm>
            <a:off x="4663440" y="2267712"/>
            <a:ext cx="4114800" cy="594360"/>
          </a:xfrm>
          <a:prstGeom prst="rect">
            <a:avLst/>
          </a:prstGeom>
          <a:noFill/>
          <a:ln/>
        </p:spPr>
        <p:txBody>
          <a:bodyPr wrap="square" lIns="0" tIns="0" rIns="0" bIns="0"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~85%</a:t>
            </a:r>
            <a:endParaRPr lang="en-US" sz="3600" dirty="0"/>
          </a:p>
        </p:txBody>
      </p:sp>
      <p:sp>
        <p:nvSpPr>
          <p:cNvPr id="18" name="Text 16"/>
          <p:cNvSpPr/>
          <p:nvPr/>
        </p:nvSpPr>
        <p:spPr>
          <a:xfrm>
            <a:off x="4663440" y="2834640"/>
            <a:ext cx="411480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9" name="Text 17"/>
          <p:cNvSpPr/>
          <p:nvPr/>
        </p:nvSpPr>
        <p:spPr>
          <a:xfrm>
            <a:off x="4663440" y="3044952"/>
            <a:ext cx="4114800" cy="20116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Fraud cases correctly detected</a:t>
            </a:r>
            <a:endParaRPr lang="en-US" sz="1000" dirty="0"/>
          </a:p>
        </p:txBody>
      </p:sp>
      <p:sp>
        <p:nvSpPr>
          <p:cNvPr id="20" name="Text 18"/>
          <p:cNvSpPr/>
          <p:nvPr/>
        </p:nvSpPr>
        <p:spPr>
          <a:xfrm>
            <a:off x="274320" y="3566160"/>
            <a:ext cx="8595360" cy="2743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Why This Model Wins:</a:t>
            </a:r>
            <a:endParaRPr lang="en-US" sz="1400" dirty="0"/>
          </a:p>
        </p:txBody>
      </p:sp>
      <p:sp>
        <p:nvSpPr>
          <p:cNvPr id="21" name="Text 19"/>
          <p:cNvSpPr/>
          <p:nvPr/>
        </p:nvSpPr>
        <p:spPr>
          <a:xfrm>
            <a:off x="274320" y="3886200"/>
            <a:ext cx="8595360" cy="1005840"/>
          </a:xfrm>
          <a:prstGeom prst="rect">
            <a:avLst/>
          </a:prstGeom>
          <a:noFill/>
          <a:ln/>
        </p:spPr>
        <p:txBody>
          <a:bodyPr wrap="square"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Feature selection reduced 2193 features to 184 (91.6% reduction) without sacrificing predictive power</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RandomizedSearchCV tuned n_estimators, max_depth, and learning_rate — F1 improved from 0.436 to 0.538</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AUC-ROC of 0.983 proves the model can rank-order fraud probability reliably for any threshold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w="12700">
            <a:solidFill>
              <a:srgbClr val="0D1B2A"/>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Financial Impact &amp; Cost-Benefit Analysis</a:t>
            </a:r>
            <a:endParaRPr lang="en-US" sz="2400" dirty="0"/>
          </a:p>
        </p:txBody>
      </p:sp>
      <p:sp>
        <p:nvSpPr>
          <p:cNvPr id="4" name="Text 2"/>
          <p:cNvSpPr/>
          <p:nvPr/>
        </p:nvSpPr>
        <p:spPr>
          <a:xfrm>
            <a:off x="365760" y="822960"/>
            <a:ext cx="4114800" cy="32004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Assumptions</a:t>
            </a:r>
            <a:endParaRPr lang="en-US" sz="1400" dirty="0"/>
          </a:p>
        </p:txBody>
      </p:sp>
      <p:sp>
        <p:nvSpPr>
          <p:cNvPr id="5" name="Shape 3"/>
          <p:cNvSpPr/>
          <p:nvPr/>
        </p:nvSpPr>
        <p:spPr>
          <a:xfrm>
            <a:off x="365760" y="1188720"/>
            <a:ext cx="4114800" cy="338328"/>
          </a:xfrm>
          <a:prstGeom prst="roundRect">
            <a:avLst>
              <a:gd name="adj" fmla="val 1621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02920" y="1243584"/>
            <a:ext cx="2743200" cy="2286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Avg transactions/month (a)</a:t>
            </a:r>
            <a:endParaRPr lang="en-US" sz="1000" dirty="0"/>
          </a:p>
        </p:txBody>
      </p:sp>
      <p:sp>
        <p:nvSpPr>
          <p:cNvPr id="7" name="Text 5"/>
          <p:cNvSpPr/>
          <p:nvPr/>
        </p:nvSpPr>
        <p:spPr>
          <a:xfrm>
            <a:off x="3200400" y="1243584"/>
            <a:ext cx="1188720" cy="22860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154,366</a:t>
            </a:r>
            <a:endParaRPr lang="en-US" sz="1100" dirty="0"/>
          </a:p>
        </p:txBody>
      </p:sp>
      <p:sp>
        <p:nvSpPr>
          <p:cNvPr id="8" name="Shape 6"/>
          <p:cNvSpPr/>
          <p:nvPr/>
        </p:nvSpPr>
        <p:spPr>
          <a:xfrm>
            <a:off x="365760" y="1581912"/>
            <a:ext cx="4114800" cy="338328"/>
          </a:xfrm>
          <a:prstGeom prst="roundRect">
            <a:avLst>
              <a:gd name="adj" fmla="val 1621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02920" y="1636776"/>
            <a:ext cx="2743200" cy="2286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Avg fraudulent transactions/month (b)</a:t>
            </a:r>
            <a:endParaRPr lang="en-US" sz="1000" dirty="0"/>
          </a:p>
        </p:txBody>
      </p:sp>
      <p:sp>
        <p:nvSpPr>
          <p:cNvPr id="10" name="Text 8"/>
          <p:cNvSpPr/>
          <p:nvPr/>
        </p:nvSpPr>
        <p:spPr>
          <a:xfrm>
            <a:off x="3200400" y="1636776"/>
            <a:ext cx="1188720" cy="22860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804</a:t>
            </a:r>
            <a:endParaRPr lang="en-US" sz="1100" dirty="0"/>
          </a:p>
        </p:txBody>
      </p:sp>
      <p:sp>
        <p:nvSpPr>
          <p:cNvPr id="11" name="Shape 9"/>
          <p:cNvSpPr/>
          <p:nvPr/>
        </p:nvSpPr>
        <p:spPr>
          <a:xfrm>
            <a:off x="365760" y="1975104"/>
            <a:ext cx="4114800" cy="338328"/>
          </a:xfrm>
          <a:prstGeom prst="roundRect">
            <a:avLst>
              <a:gd name="adj" fmla="val 1621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02920" y="2029968"/>
            <a:ext cx="2743200" cy="2286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Avg amount per fraud transaction (c)</a:t>
            </a:r>
            <a:endParaRPr lang="en-US" sz="1000" dirty="0"/>
          </a:p>
        </p:txBody>
      </p:sp>
      <p:sp>
        <p:nvSpPr>
          <p:cNvPr id="13" name="Text 11"/>
          <p:cNvSpPr/>
          <p:nvPr/>
        </p:nvSpPr>
        <p:spPr>
          <a:xfrm>
            <a:off x="3200400" y="2029968"/>
            <a:ext cx="1188720" cy="22860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$530.66</a:t>
            </a:r>
            <a:endParaRPr lang="en-US" sz="1100" dirty="0"/>
          </a:p>
        </p:txBody>
      </p:sp>
      <p:sp>
        <p:nvSpPr>
          <p:cNvPr id="14" name="Shape 12"/>
          <p:cNvSpPr/>
          <p:nvPr/>
        </p:nvSpPr>
        <p:spPr>
          <a:xfrm>
            <a:off x="365760" y="2368296"/>
            <a:ext cx="4114800" cy="338328"/>
          </a:xfrm>
          <a:prstGeom prst="roundRect">
            <a:avLst>
              <a:gd name="adj" fmla="val 1621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502920" y="2423160"/>
            <a:ext cx="2743200" cy="2286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TF detected by model/month</a:t>
            </a:r>
            <a:endParaRPr lang="en-US" sz="1000" dirty="0"/>
          </a:p>
        </p:txBody>
      </p:sp>
      <p:sp>
        <p:nvSpPr>
          <p:cNvPr id="16" name="Text 14"/>
          <p:cNvSpPr/>
          <p:nvPr/>
        </p:nvSpPr>
        <p:spPr>
          <a:xfrm>
            <a:off x="3200400" y="2423160"/>
            <a:ext cx="1188720" cy="22860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200</a:t>
            </a:r>
            <a:endParaRPr lang="en-US" sz="1100" dirty="0"/>
          </a:p>
        </p:txBody>
      </p:sp>
      <p:sp>
        <p:nvSpPr>
          <p:cNvPr id="17" name="Shape 15"/>
          <p:cNvSpPr/>
          <p:nvPr/>
        </p:nvSpPr>
        <p:spPr>
          <a:xfrm>
            <a:off x="365760" y="2761488"/>
            <a:ext cx="4114800" cy="338328"/>
          </a:xfrm>
          <a:prstGeom prst="roundRect">
            <a:avLst>
              <a:gd name="adj" fmla="val 1621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502920" y="2816352"/>
            <a:ext cx="2743200" cy="2286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Support cost per flagged transaction</a:t>
            </a:r>
            <a:endParaRPr lang="en-US" sz="1000" dirty="0"/>
          </a:p>
        </p:txBody>
      </p:sp>
      <p:sp>
        <p:nvSpPr>
          <p:cNvPr id="19" name="Text 17"/>
          <p:cNvSpPr/>
          <p:nvPr/>
        </p:nvSpPr>
        <p:spPr>
          <a:xfrm>
            <a:off x="3200400" y="2816352"/>
            <a:ext cx="1188720" cy="22860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$1.50</a:t>
            </a:r>
            <a:endParaRPr lang="en-US" sz="1100" dirty="0"/>
          </a:p>
        </p:txBody>
      </p:sp>
      <p:sp>
        <p:nvSpPr>
          <p:cNvPr id="20" name="Shape 18"/>
          <p:cNvSpPr/>
          <p:nvPr/>
        </p:nvSpPr>
        <p:spPr>
          <a:xfrm>
            <a:off x="365760" y="3154680"/>
            <a:ext cx="4114800" cy="338328"/>
          </a:xfrm>
          <a:prstGeom prst="roundRect">
            <a:avLst>
              <a:gd name="adj" fmla="val 16216"/>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502920" y="3209544"/>
            <a:ext cx="2743200" cy="2286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FN missed by model/month</a:t>
            </a:r>
            <a:endParaRPr lang="en-US" sz="1000" dirty="0"/>
          </a:p>
        </p:txBody>
      </p:sp>
      <p:sp>
        <p:nvSpPr>
          <p:cNvPr id="22" name="Text 20"/>
          <p:cNvSpPr/>
          <p:nvPr/>
        </p:nvSpPr>
        <p:spPr>
          <a:xfrm>
            <a:off x="3200400" y="3209544"/>
            <a:ext cx="1188720" cy="22860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45</a:t>
            </a:r>
            <a:endParaRPr lang="en-US" sz="1100" dirty="0"/>
          </a:p>
        </p:txBody>
      </p:sp>
      <p:sp>
        <p:nvSpPr>
          <p:cNvPr id="23" name="Text 21"/>
          <p:cNvSpPr/>
          <p:nvPr/>
        </p:nvSpPr>
        <p:spPr>
          <a:xfrm>
            <a:off x="4754880" y="822960"/>
            <a:ext cx="4114800" cy="32004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Financial Outcomes</a:t>
            </a:r>
            <a:endParaRPr lang="en-US" sz="1400" dirty="0"/>
          </a:p>
        </p:txBody>
      </p:sp>
      <p:sp>
        <p:nvSpPr>
          <p:cNvPr id="24" name="Shape 22"/>
          <p:cNvSpPr/>
          <p:nvPr/>
        </p:nvSpPr>
        <p:spPr>
          <a:xfrm>
            <a:off x="4754880" y="1188720"/>
            <a:ext cx="4114800" cy="749808"/>
          </a:xfrm>
          <a:prstGeom prst="roundRect">
            <a:avLst>
              <a:gd name="adj" fmla="val 9756"/>
            </a:avLst>
          </a:prstGeom>
          <a:solidFill>
            <a:srgbClr val="FFFFFF"/>
          </a:solidFill>
          <a:ln w="12700">
            <a:solidFill>
              <a:srgbClr val="E63946"/>
            </a:solidFill>
            <a:prstDash val="solid"/>
          </a:ln>
          <a:effectLst>
            <a:outerShdw sx="100000" sy="100000" kx="0" ky="0" algn="bl" rotWithShape="0" blurRad="101600" dist="38100" dir="2700000">
              <a:srgbClr val="000000">
                <a:alpha val="12000"/>
              </a:srgbClr>
            </a:outerShdw>
          </a:effectLst>
        </p:spPr>
      </p:sp>
      <p:sp>
        <p:nvSpPr>
          <p:cNvPr id="25" name="Text 23"/>
          <p:cNvSpPr/>
          <p:nvPr/>
        </p:nvSpPr>
        <p:spPr>
          <a:xfrm>
            <a:off x="4892040" y="1243584"/>
            <a:ext cx="384048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Cost Before Model (b × c)</a:t>
            </a:r>
            <a:endParaRPr lang="en-US" sz="1100" dirty="0"/>
          </a:p>
        </p:txBody>
      </p:sp>
      <p:sp>
        <p:nvSpPr>
          <p:cNvPr id="26" name="Text 24"/>
          <p:cNvSpPr/>
          <p:nvPr/>
        </p:nvSpPr>
        <p:spPr>
          <a:xfrm>
            <a:off x="4892040" y="1444752"/>
            <a:ext cx="3840480" cy="274320"/>
          </a:xfrm>
          <a:prstGeom prst="rect">
            <a:avLst/>
          </a:prstGeom>
          <a:noFill/>
          <a:ln/>
        </p:spPr>
        <p:txBody>
          <a:bodyPr wrap="square" lIns="0" tIns="0" rIns="0" bIns="0" rtlCol="0" anchor="ctr"/>
          <a:lstStyle/>
          <a:p>
            <a:pPr indent="0" marL="0">
              <a:buNone/>
            </a:pPr>
            <a:r>
              <a:rPr lang="en-US" sz="1800" b="1" dirty="0">
                <a:solidFill>
                  <a:srgbClr val="E63946"/>
                </a:solidFill>
                <a:latin typeface="Calibri" pitchFamily="34" charset="0"/>
                <a:ea typeface="Calibri" pitchFamily="34" charset="-122"/>
                <a:cs typeface="Calibri" pitchFamily="34" charset="-120"/>
              </a:rPr>
              <a:t>$426,651/mo</a:t>
            </a:r>
            <a:endParaRPr lang="en-US" sz="1800" dirty="0"/>
          </a:p>
        </p:txBody>
      </p:sp>
      <p:sp>
        <p:nvSpPr>
          <p:cNvPr id="27" name="Text 25"/>
          <p:cNvSpPr/>
          <p:nvPr/>
        </p:nvSpPr>
        <p:spPr>
          <a:xfrm>
            <a:off x="4892040" y="1719072"/>
            <a:ext cx="38404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804 × $530.66 — full fraud loss</a:t>
            </a:r>
            <a:endParaRPr lang="en-US" sz="900" dirty="0"/>
          </a:p>
        </p:txBody>
      </p:sp>
      <p:sp>
        <p:nvSpPr>
          <p:cNvPr id="28" name="Shape 26"/>
          <p:cNvSpPr/>
          <p:nvPr/>
        </p:nvSpPr>
        <p:spPr>
          <a:xfrm>
            <a:off x="4754880" y="2093976"/>
            <a:ext cx="4114800" cy="749808"/>
          </a:xfrm>
          <a:prstGeom prst="roundRect">
            <a:avLst>
              <a:gd name="adj" fmla="val 9756"/>
            </a:avLst>
          </a:prstGeom>
          <a:solidFill>
            <a:srgbClr val="FFFFFF"/>
          </a:solidFill>
          <a:ln w="12700">
            <a:solidFill>
              <a:srgbClr val="F4A261"/>
            </a:solidFill>
            <a:prstDash val="solid"/>
          </a:ln>
          <a:effectLst>
            <a:outerShdw sx="100000" sy="100000" kx="0" ky="0" algn="bl" rotWithShape="0" blurRad="101600" dist="38100" dir="2700000">
              <a:srgbClr val="000000">
                <a:alpha val="12000"/>
              </a:srgbClr>
            </a:outerShdw>
          </a:effectLst>
        </p:spPr>
      </p:sp>
      <p:sp>
        <p:nvSpPr>
          <p:cNvPr id="29" name="Text 27"/>
          <p:cNvSpPr/>
          <p:nvPr/>
        </p:nvSpPr>
        <p:spPr>
          <a:xfrm>
            <a:off x="4892040" y="2148840"/>
            <a:ext cx="384048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Support Cost (TF × $1.50)</a:t>
            </a:r>
            <a:endParaRPr lang="en-US" sz="1100" dirty="0"/>
          </a:p>
        </p:txBody>
      </p:sp>
      <p:sp>
        <p:nvSpPr>
          <p:cNvPr id="30" name="Text 28"/>
          <p:cNvSpPr/>
          <p:nvPr/>
        </p:nvSpPr>
        <p:spPr>
          <a:xfrm>
            <a:off x="4892040" y="2350008"/>
            <a:ext cx="3840480" cy="274320"/>
          </a:xfrm>
          <a:prstGeom prst="rect">
            <a:avLst/>
          </a:prstGeom>
          <a:noFill/>
          <a:ln/>
        </p:spPr>
        <p:txBody>
          <a:bodyPr wrap="square" lIns="0" tIns="0" rIns="0" bIns="0" rtlCol="0" anchor="ctr"/>
          <a:lstStyle/>
          <a:p>
            <a:pPr indent="0" marL="0">
              <a:buNone/>
            </a:pPr>
            <a:r>
              <a:rPr lang="en-US" sz="1800" b="1" dirty="0">
                <a:solidFill>
                  <a:srgbClr val="F4A261"/>
                </a:solidFill>
                <a:latin typeface="Calibri" pitchFamily="34" charset="0"/>
                <a:ea typeface="Calibri" pitchFamily="34" charset="-122"/>
                <a:cs typeface="Calibri" pitchFamily="34" charset="-120"/>
              </a:rPr>
              <a:t>$300/mo</a:t>
            </a:r>
            <a:endParaRPr lang="en-US" sz="1800" dirty="0"/>
          </a:p>
        </p:txBody>
      </p:sp>
      <p:sp>
        <p:nvSpPr>
          <p:cNvPr id="31" name="Text 29"/>
          <p:cNvSpPr/>
          <p:nvPr/>
        </p:nvSpPr>
        <p:spPr>
          <a:xfrm>
            <a:off x="4892040" y="2624328"/>
            <a:ext cx="38404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200 × $1.50 — investigation cost</a:t>
            </a:r>
            <a:endParaRPr lang="en-US" sz="900" dirty="0"/>
          </a:p>
        </p:txBody>
      </p:sp>
      <p:sp>
        <p:nvSpPr>
          <p:cNvPr id="32" name="Shape 30"/>
          <p:cNvSpPr/>
          <p:nvPr/>
        </p:nvSpPr>
        <p:spPr>
          <a:xfrm>
            <a:off x="4754880" y="2999232"/>
            <a:ext cx="4114800" cy="749808"/>
          </a:xfrm>
          <a:prstGeom prst="roundRect">
            <a:avLst>
              <a:gd name="adj" fmla="val 9756"/>
            </a:avLst>
          </a:prstGeom>
          <a:solidFill>
            <a:srgbClr val="FFFFFF"/>
          </a:solidFill>
          <a:ln w="12700">
            <a:solidFill>
              <a:srgbClr val="F4A261"/>
            </a:solidFill>
            <a:prstDash val="solid"/>
          </a:ln>
          <a:effectLst>
            <a:outerShdw sx="100000" sy="100000" kx="0" ky="0" algn="bl" rotWithShape="0" blurRad="101600" dist="38100" dir="2700000">
              <a:srgbClr val="000000">
                <a:alpha val="12000"/>
              </a:srgbClr>
            </a:outerShdw>
          </a:effectLst>
        </p:spPr>
      </p:sp>
      <p:sp>
        <p:nvSpPr>
          <p:cNvPr id="33" name="Text 31"/>
          <p:cNvSpPr/>
          <p:nvPr/>
        </p:nvSpPr>
        <p:spPr>
          <a:xfrm>
            <a:off x="4892040" y="3054096"/>
            <a:ext cx="384048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Missed Fraud Cost (FN × c)</a:t>
            </a:r>
            <a:endParaRPr lang="en-US" sz="1100" dirty="0"/>
          </a:p>
        </p:txBody>
      </p:sp>
      <p:sp>
        <p:nvSpPr>
          <p:cNvPr id="34" name="Text 32"/>
          <p:cNvSpPr/>
          <p:nvPr/>
        </p:nvSpPr>
        <p:spPr>
          <a:xfrm>
            <a:off x="4892040" y="3255264"/>
            <a:ext cx="3840480" cy="274320"/>
          </a:xfrm>
          <a:prstGeom prst="rect">
            <a:avLst/>
          </a:prstGeom>
          <a:noFill/>
          <a:ln/>
        </p:spPr>
        <p:txBody>
          <a:bodyPr wrap="square" lIns="0" tIns="0" rIns="0" bIns="0" rtlCol="0" anchor="ctr"/>
          <a:lstStyle/>
          <a:p>
            <a:pPr indent="0" marL="0">
              <a:buNone/>
            </a:pPr>
            <a:r>
              <a:rPr lang="en-US" sz="1800" b="1" dirty="0">
                <a:solidFill>
                  <a:srgbClr val="F4A261"/>
                </a:solidFill>
                <a:latin typeface="Calibri" pitchFamily="34" charset="0"/>
                <a:ea typeface="Calibri" pitchFamily="34" charset="-122"/>
                <a:cs typeface="Calibri" pitchFamily="34" charset="-120"/>
              </a:rPr>
              <a:t>$23,880/mo</a:t>
            </a:r>
            <a:endParaRPr lang="en-US" sz="1800" dirty="0"/>
          </a:p>
        </p:txBody>
      </p:sp>
      <p:sp>
        <p:nvSpPr>
          <p:cNvPr id="35" name="Text 33"/>
          <p:cNvSpPr/>
          <p:nvPr/>
        </p:nvSpPr>
        <p:spPr>
          <a:xfrm>
            <a:off x="4892040" y="3529584"/>
            <a:ext cx="38404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45 × $530.66 — undetected fraud</a:t>
            </a:r>
            <a:endParaRPr lang="en-US" sz="900" dirty="0"/>
          </a:p>
        </p:txBody>
      </p:sp>
      <p:sp>
        <p:nvSpPr>
          <p:cNvPr id="36" name="Shape 34"/>
          <p:cNvSpPr/>
          <p:nvPr/>
        </p:nvSpPr>
        <p:spPr>
          <a:xfrm>
            <a:off x="4754880" y="3904488"/>
            <a:ext cx="4114800" cy="777240"/>
          </a:xfrm>
          <a:prstGeom prst="roundRect">
            <a:avLst>
              <a:gd name="adj" fmla="val 9412"/>
            </a:avLst>
          </a:prstGeom>
          <a:solidFill>
            <a:srgbClr val="0D1B2A"/>
          </a:solidFill>
          <a:ln w="25400">
            <a:solidFill>
              <a:srgbClr val="10B981"/>
            </a:solidFill>
            <a:prstDash val="solid"/>
          </a:ln>
          <a:effectLst>
            <a:outerShdw sx="100000" sy="100000" kx="0" ky="0" algn="bl" rotWithShape="0" blurRad="101600" dist="38100" dir="2700000">
              <a:srgbClr val="000000">
                <a:alpha val="12000"/>
              </a:srgbClr>
            </a:outerShdw>
          </a:effectLst>
        </p:spPr>
      </p:sp>
      <p:sp>
        <p:nvSpPr>
          <p:cNvPr id="37" name="Text 35"/>
          <p:cNvSpPr/>
          <p:nvPr/>
        </p:nvSpPr>
        <p:spPr>
          <a:xfrm>
            <a:off x="4892040" y="3959352"/>
            <a:ext cx="384048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NET SAVINGS/MONTH</a:t>
            </a:r>
            <a:endParaRPr lang="en-US" sz="1300" dirty="0"/>
          </a:p>
        </p:txBody>
      </p:sp>
      <p:sp>
        <p:nvSpPr>
          <p:cNvPr id="38" name="Text 36"/>
          <p:cNvSpPr/>
          <p:nvPr/>
        </p:nvSpPr>
        <p:spPr>
          <a:xfrm>
            <a:off x="4892040" y="4178808"/>
            <a:ext cx="3840480" cy="347472"/>
          </a:xfrm>
          <a:prstGeom prst="rect">
            <a:avLst/>
          </a:prstGeom>
          <a:noFill/>
          <a:ln/>
        </p:spPr>
        <p:txBody>
          <a:bodyPr wrap="square" lIns="0" tIns="0" rIns="0" bIns="0" rtlCol="0" anchor="ctr"/>
          <a:lstStyle/>
          <a:p>
            <a:pPr indent="0" marL="0">
              <a:buNone/>
            </a:pPr>
            <a:r>
              <a:rPr lang="en-US" sz="2600" b="1" dirty="0">
                <a:solidFill>
                  <a:srgbClr val="10B981"/>
                </a:solidFill>
                <a:latin typeface="Calibri" pitchFamily="34" charset="0"/>
                <a:ea typeface="Calibri" pitchFamily="34" charset="-122"/>
                <a:cs typeface="Calibri" pitchFamily="34" charset="-120"/>
              </a:rPr>
              <a:t>$402,471</a:t>
            </a:r>
            <a:endParaRPr lang="en-US" sz="2600" dirty="0"/>
          </a:p>
        </p:txBody>
      </p:sp>
      <p:sp>
        <p:nvSpPr>
          <p:cNvPr id="39" name="Text 37"/>
          <p:cNvSpPr/>
          <p:nvPr/>
        </p:nvSpPr>
        <p:spPr>
          <a:xfrm>
            <a:off x="4892040" y="4498848"/>
            <a:ext cx="384048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$426,651 − $24,180 = $402,471/month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w="12700">
            <a:solidFill>
              <a:srgbClr val="028090"/>
            </a:solidFill>
            <a:prstDash val="solid"/>
          </a:ln>
        </p:spPr>
      </p:sp>
      <p:sp>
        <p:nvSpPr>
          <p:cNvPr id="3" name="Text 1"/>
          <p:cNvSpPr/>
          <p:nvPr/>
        </p:nvSpPr>
        <p:spPr>
          <a:xfrm>
            <a:off x="365760" y="9144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Recommendations &amp; Next Steps</a:t>
            </a:r>
            <a:endParaRPr lang="en-US" sz="2400" dirty="0"/>
          </a:p>
        </p:txBody>
      </p:sp>
      <p:sp>
        <p:nvSpPr>
          <p:cNvPr id="4" name="Shape 2"/>
          <p:cNvSpPr/>
          <p:nvPr/>
        </p:nvSpPr>
        <p:spPr>
          <a:xfrm>
            <a:off x="274320" y="896112"/>
            <a:ext cx="4206240" cy="1170432"/>
          </a:xfrm>
          <a:prstGeom prst="roundRect">
            <a:avLst>
              <a:gd name="adj" fmla="val 6250"/>
            </a:avLst>
          </a:prstGeom>
          <a:solidFill>
            <a:srgbClr val="1A2E45"/>
          </a:solidFill>
          <a:ln w="19050">
            <a:solidFill>
              <a:srgbClr val="10B981"/>
            </a:solidFill>
            <a:prstDash val="solid"/>
          </a:ln>
        </p:spPr>
      </p:sp>
      <p:sp>
        <p:nvSpPr>
          <p:cNvPr id="5" name="Shape 3"/>
          <p:cNvSpPr/>
          <p:nvPr/>
        </p:nvSpPr>
        <p:spPr>
          <a:xfrm>
            <a:off x="365760" y="1005840"/>
            <a:ext cx="457200" cy="457200"/>
          </a:xfrm>
          <a:prstGeom prst="ellipse">
            <a:avLst/>
          </a:prstGeom>
          <a:solidFill>
            <a:srgbClr val="10B981"/>
          </a:solidFill>
          <a:ln w="12700">
            <a:solidFill>
              <a:srgbClr val="10B981"/>
            </a:solidFill>
            <a:prstDash val="solid"/>
          </a:ln>
        </p:spPr>
      </p:sp>
      <p:sp>
        <p:nvSpPr>
          <p:cNvPr id="6" name="Text 4"/>
          <p:cNvSpPr/>
          <p:nvPr/>
        </p:nvSpPr>
        <p:spPr>
          <a:xfrm>
            <a:off x="365760" y="1005840"/>
            <a:ext cx="4572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14400" y="950976"/>
            <a:ext cx="347472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Deploy XGBoost Final Model</a:t>
            </a:r>
            <a:endParaRPr lang="en-US" sz="1200" dirty="0"/>
          </a:p>
        </p:txBody>
      </p:sp>
      <p:sp>
        <p:nvSpPr>
          <p:cNvPr id="8" name="Text 6"/>
          <p:cNvSpPr/>
          <p:nvPr/>
        </p:nvSpPr>
        <p:spPr>
          <a:xfrm>
            <a:off x="914400" y="1261872"/>
            <a:ext cx="3474720" cy="7315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 the SMOTE + SelectFromModel + RandomSearchCV pipeline in production. Set threshold at 0.9 for high precision with manageable false positives.</a:t>
            </a:r>
            <a:endParaRPr lang="en-US" sz="1000" dirty="0"/>
          </a:p>
        </p:txBody>
      </p:sp>
      <p:sp>
        <p:nvSpPr>
          <p:cNvPr id="9" name="Shape 7"/>
          <p:cNvSpPr/>
          <p:nvPr/>
        </p:nvSpPr>
        <p:spPr>
          <a:xfrm>
            <a:off x="274320" y="2221992"/>
            <a:ext cx="4206240" cy="1170432"/>
          </a:xfrm>
          <a:prstGeom prst="roundRect">
            <a:avLst>
              <a:gd name="adj" fmla="val 6250"/>
            </a:avLst>
          </a:prstGeom>
          <a:solidFill>
            <a:srgbClr val="1A2E45"/>
          </a:solidFill>
          <a:ln w="19050">
            <a:solidFill>
              <a:srgbClr val="028090"/>
            </a:solidFill>
            <a:prstDash val="solid"/>
          </a:ln>
        </p:spPr>
      </p:sp>
      <p:sp>
        <p:nvSpPr>
          <p:cNvPr id="10" name="Shape 8"/>
          <p:cNvSpPr/>
          <p:nvPr/>
        </p:nvSpPr>
        <p:spPr>
          <a:xfrm>
            <a:off x="365760" y="2331720"/>
            <a:ext cx="457200" cy="457200"/>
          </a:xfrm>
          <a:prstGeom prst="ellipse">
            <a:avLst/>
          </a:prstGeom>
          <a:solidFill>
            <a:srgbClr val="028090"/>
          </a:solidFill>
          <a:ln w="12700">
            <a:solidFill>
              <a:srgbClr val="028090"/>
            </a:solidFill>
            <a:prstDash val="solid"/>
          </a:ln>
        </p:spPr>
      </p:sp>
      <p:sp>
        <p:nvSpPr>
          <p:cNvPr id="11" name="Text 9"/>
          <p:cNvSpPr/>
          <p:nvPr/>
        </p:nvSpPr>
        <p:spPr>
          <a:xfrm>
            <a:off x="365760" y="2331720"/>
            <a:ext cx="4572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914400" y="2276856"/>
            <a:ext cx="3474720" cy="274320"/>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Focus on Key Features</a:t>
            </a:r>
            <a:endParaRPr lang="en-US" sz="1200" dirty="0"/>
          </a:p>
        </p:txBody>
      </p:sp>
      <p:sp>
        <p:nvSpPr>
          <p:cNvPr id="13" name="Text 11"/>
          <p:cNvSpPr/>
          <p:nvPr/>
        </p:nvSpPr>
        <p:spPr>
          <a:xfrm>
            <a:off x="914400" y="2587752"/>
            <a:ext cx="3474720" cy="7315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Transaction amount (log_amt), geographic distance, and transaction hour are top predictors. Prioritize data quality for these fields.</a:t>
            </a:r>
            <a:endParaRPr lang="en-US" sz="1000" dirty="0"/>
          </a:p>
        </p:txBody>
      </p:sp>
      <p:sp>
        <p:nvSpPr>
          <p:cNvPr id="14" name="Shape 12"/>
          <p:cNvSpPr/>
          <p:nvPr/>
        </p:nvSpPr>
        <p:spPr>
          <a:xfrm>
            <a:off x="274320" y="3547872"/>
            <a:ext cx="4206240" cy="1170432"/>
          </a:xfrm>
          <a:prstGeom prst="roundRect">
            <a:avLst>
              <a:gd name="adj" fmla="val 6250"/>
            </a:avLst>
          </a:prstGeom>
          <a:solidFill>
            <a:srgbClr val="1A2E45"/>
          </a:solidFill>
          <a:ln w="19050">
            <a:solidFill>
              <a:srgbClr val="F4A261"/>
            </a:solidFill>
            <a:prstDash val="solid"/>
          </a:ln>
        </p:spPr>
      </p:sp>
      <p:sp>
        <p:nvSpPr>
          <p:cNvPr id="15" name="Shape 13"/>
          <p:cNvSpPr/>
          <p:nvPr/>
        </p:nvSpPr>
        <p:spPr>
          <a:xfrm>
            <a:off x="365760" y="3657600"/>
            <a:ext cx="457200" cy="457200"/>
          </a:xfrm>
          <a:prstGeom prst="ellipse">
            <a:avLst/>
          </a:prstGeom>
          <a:solidFill>
            <a:srgbClr val="F4A261"/>
          </a:solidFill>
          <a:ln w="12700">
            <a:solidFill>
              <a:srgbClr val="F4A261"/>
            </a:solidFill>
            <a:prstDash val="solid"/>
          </a:ln>
        </p:spPr>
      </p:sp>
      <p:sp>
        <p:nvSpPr>
          <p:cNvPr id="16" name="Text 14"/>
          <p:cNvSpPr/>
          <p:nvPr/>
        </p:nvSpPr>
        <p:spPr>
          <a:xfrm>
            <a:off x="365760" y="3657600"/>
            <a:ext cx="4572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914400" y="3602736"/>
            <a:ext cx="3474720" cy="274320"/>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Monitor &amp; Retrain Periodically</a:t>
            </a:r>
            <a:endParaRPr lang="en-US" sz="1200" dirty="0"/>
          </a:p>
        </p:txBody>
      </p:sp>
      <p:sp>
        <p:nvSpPr>
          <p:cNvPr id="18" name="Text 16"/>
          <p:cNvSpPr/>
          <p:nvPr/>
        </p:nvSpPr>
        <p:spPr>
          <a:xfrm>
            <a:off x="914400" y="3913632"/>
            <a:ext cx="3474720" cy="7315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Fraud patterns evolve. Schedule quarterly model retraining on fresh data to prevent model drift and maintain detection performance.</a:t>
            </a:r>
            <a:endParaRPr lang="en-US" sz="1000" dirty="0"/>
          </a:p>
        </p:txBody>
      </p:sp>
      <p:sp>
        <p:nvSpPr>
          <p:cNvPr id="19" name="Shape 17"/>
          <p:cNvSpPr/>
          <p:nvPr/>
        </p:nvSpPr>
        <p:spPr>
          <a:xfrm>
            <a:off x="4754880" y="896112"/>
            <a:ext cx="4206240" cy="1170432"/>
          </a:xfrm>
          <a:prstGeom prst="roundRect">
            <a:avLst>
              <a:gd name="adj" fmla="val 6250"/>
            </a:avLst>
          </a:prstGeom>
          <a:solidFill>
            <a:srgbClr val="1A2E45"/>
          </a:solidFill>
          <a:ln w="19050">
            <a:solidFill>
              <a:srgbClr val="02C39A"/>
            </a:solidFill>
            <a:prstDash val="solid"/>
          </a:ln>
        </p:spPr>
      </p:sp>
      <p:sp>
        <p:nvSpPr>
          <p:cNvPr id="20" name="Shape 18"/>
          <p:cNvSpPr/>
          <p:nvPr/>
        </p:nvSpPr>
        <p:spPr>
          <a:xfrm>
            <a:off x="4846320" y="1005840"/>
            <a:ext cx="457200" cy="457200"/>
          </a:xfrm>
          <a:prstGeom prst="ellipse">
            <a:avLst/>
          </a:prstGeom>
          <a:solidFill>
            <a:srgbClr val="02C39A"/>
          </a:solidFill>
          <a:ln w="12700">
            <a:solidFill>
              <a:srgbClr val="02C39A"/>
            </a:solidFill>
            <a:prstDash val="solid"/>
          </a:ln>
        </p:spPr>
      </p:sp>
      <p:sp>
        <p:nvSpPr>
          <p:cNvPr id="21" name="Text 19"/>
          <p:cNvSpPr/>
          <p:nvPr/>
        </p:nvSpPr>
        <p:spPr>
          <a:xfrm>
            <a:off x="4846320" y="1005840"/>
            <a:ext cx="4572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5394960" y="950976"/>
            <a:ext cx="3474720" cy="274320"/>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Add Real-Time Scoring</a:t>
            </a:r>
            <a:endParaRPr lang="en-US" sz="1200" dirty="0"/>
          </a:p>
        </p:txBody>
      </p:sp>
      <p:sp>
        <p:nvSpPr>
          <p:cNvPr id="23" name="Text 21"/>
          <p:cNvSpPr/>
          <p:nvPr/>
        </p:nvSpPr>
        <p:spPr>
          <a:xfrm>
            <a:off x="5394960" y="1261872"/>
            <a:ext cx="3474720" cy="7315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Integrate the model into the transaction processing pipeline for real-time fraud scoring with a sub-100ms SLA target.</a:t>
            </a:r>
            <a:endParaRPr lang="en-US" sz="1000" dirty="0"/>
          </a:p>
        </p:txBody>
      </p:sp>
      <p:sp>
        <p:nvSpPr>
          <p:cNvPr id="24" name="Shape 22"/>
          <p:cNvSpPr/>
          <p:nvPr/>
        </p:nvSpPr>
        <p:spPr>
          <a:xfrm>
            <a:off x="4754880" y="2221992"/>
            <a:ext cx="4206240" cy="1170432"/>
          </a:xfrm>
          <a:prstGeom prst="roundRect">
            <a:avLst>
              <a:gd name="adj" fmla="val 6250"/>
            </a:avLst>
          </a:prstGeom>
          <a:solidFill>
            <a:srgbClr val="1A2E45"/>
          </a:solidFill>
          <a:ln w="19050">
            <a:solidFill>
              <a:srgbClr val="F4A261"/>
            </a:solidFill>
            <a:prstDash val="solid"/>
          </a:ln>
        </p:spPr>
      </p:sp>
      <p:sp>
        <p:nvSpPr>
          <p:cNvPr id="25" name="Shape 23"/>
          <p:cNvSpPr/>
          <p:nvPr/>
        </p:nvSpPr>
        <p:spPr>
          <a:xfrm>
            <a:off x="4846320" y="2331720"/>
            <a:ext cx="457200" cy="457200"/>
          </a:xfrm>
          <a:prstGeom prst="ellipse">
            <a:avLst/>
          </a:prstGeom>
          <a:solidFill>
            <a:srgbClr val="F4A261"/>
          </a:solidFill>
          <a:ln w="12700">
            <a:solidFill>
              <a:srgbClr val="F4A261"/>
            </a:solidFill>
            <a:prstDash val="solid"/>
          </a:ln>
        </p:spPr>
      </p:sp>
      <p:sp>
        <p:nvSpPr>
          <p:cNvPr id="26" name="Text 24"/>
          <p:cNvSpPr/>
          <p:nvPr/>
        </p:nvSpPr>
        <p:spPr>
          <a:xfrm>
            <a:off x="4846320" y="2331720"/>
            <a:ext cx="457200" cy="457200"/>
          </a:xfrm>
          <a:prstGeom prst="rect">
            <a:avLst/>
          </a:prstGeom>
          <a:noFill/>
          <a:ln/>
        </p:spPr>
        <p:txBody>
          <a:bodyPr wrap="square" lIns="0" tIns="0" rIns="0" bIns="0" rtlCol="0" anchor="ctr"/>
          <a:lstStyle/>
          <a:p>
            <a:pPr algn="ctr" indent="0" marL="0">
              <a:buNone/>
            </a:pPr>
            <a:r>
              <a:rPr lang="en-US" sz="1200" b="1" dirty="0">
                <a:solidFill>
                  <a:srgbClr val="0D1B2A"/>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5394960" y="2276856"/>
            <a:ext cx="3474720" cy="274320"/>
          </a:xfrm>
          <a:prstGeom prst="rect">
            <a:avLst/>
          </a:prstGeom>
          <a:noFill/>
          <a:ln/>
        </p:spPr>
        <p:txBody>
          <a:bodyPr wrap="square" lIns="0" tIns="0" rIns="0" bIns="0"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Use Threshold Tuning</a:t>
            </a:r>
            <a:endParaRPr lang="en-US" sz="1200" dirty="0"/>
          </a:p>
        </p:txBody>
      </p:sp>
      <p:sp>
        <p:nvSpPr>
          <p:cNvPr id="28" name="Text 26"/>
          <p:cNvSpPr/>
          <p:nvPr/>
        </p:nvSpPr>
        <p:spPr>
          <a:xfrm>
            <a:off x="5394960" y="2587752"/>
            <a:ext cx="3474720" cy="7315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At threshold 0.9: high precision, fewer false positives. At 0.3: higher recall, more fraud caught. Tune based on business tolerance.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A2E45">
              <a:alpha val="70000"/>
            </a:srgbClr>
          </a:solidFill>
          <a:ln w="25400">
            <a:solidFill>
              <a:srgbClr val="028090"/>
            </a:solidFill>
            <a:prstDash val="solid"/>
          </a:ln>
        </p:spPr>
      </p:sp>
      <p:sp>
        <p:nvSpPr>
          <p:cNvPr id="3" name="Shape 1"/>
          <p:cNvSpPr/>
          <p:nvPr/>
        </p:nvSpPr>
        <p:spPr>
          <a:xfrm>
            <a:off x="6400800" y="2286000"/>
            <a:ext cx="3657600" cy="3657600"/>
          </a:xfrm>
          <a:prstGeom prst="ellipse">
            <a:avLst/>
          </a:prstGeom>
          <a:solidFill>
            <a:srgbClr val="1A2E45">
              <a:alpha val="60000"/>
            </a:srgbClr>
          </a:solidFill>
          <a:ln w="12700">
            <a:solidFill>
              <a:srgbClr val="028090"/>
            </a:solidFill>
            <a:prstDash val="solid"/>
          </a:ln>
        </p:spPr>
      </p:sp>
      <p:sp>
        <p:nvSpPr>
          <p:cNvPr id="4" name="Text 2"/>
          <p:cNvSpPr/>
          <p:nvPr/>
        </p:nvSpPr>
        <p:spPr>
          <a:xfrm>
            <a:off x="914400" y="457200"/>
            <a:ext cx="731520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5" name="Shape 3"/>
          <p:cNvSpPr/>
          <p:nvPr/>
        </p:nvSpPr>
        <p:spPr>
          <a:xfrm>
            <a:off x="914400" y="1188720"/>
            <a:ext cx="7315200" cy="621792"/>
          </a:xfrm>
          <a:prstGeom prst="roundRect">
            <a:avLst>
              <a:gd name="adj" fmla="val 11765"/>
            </a:avLst>
          </a:prstGeom>
          <a:solidFill>
            <a:srgbClr val="1A2E45">
              <a:alpha val="80000"/>
            </a:srgbClr>
          </a:solidFill>
          <a:ln w="12700">
            <a:solidFill>
              <a:srgbClr val="028090"/>
            </a:solidFill>
            <a:prstDash val="solid"/>
          </a:ln>
        </p:spPr>
      </p:sp>
      <p:sp>
        <p:nvSpPr>
          <p:cNvPr id="6" name="Text 4"/>
          <p:cNvSpPr/>
          <p:nvPr/>
        </p:nvSpPr>
        <p:spPr>
          <a:xfrm>
            <a:off x="1097280" y="1280160"/>
            <a:ext cx="69494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XGBoost + SMOTE + Feature Selection + Tuning is the best model (F1: 0.538, AUC: 0.983)</a:t>
            </a:r>
            <a:endParaRPr lang="en-US" sz="1200" dirty="0"/>
          </a:p>
        </p:txBody>
      </p:sp>
      <p:sp>
        <p:nvSpPr>
          <p:cNvPr id="7" name="Shape 5"/>
          <p:cNvSpPr/>
          <p:nvPr/>
        </p:nvSpPr>
        <p:spPr>
          <a:xfrm>
            <a:off x="914400" y="1938528"/>
            <a:ext cx="7315200" cy="621792"/>
          </a:xfrm>
          <a:prstGeom prst="roundRect">
            <a:avLst>
              <a:gd name="adj" fmla="val 11765"/>
            </a:avLst>
          </a:prstGeom>
          <a:solidFill>
            <a:srgbClr val="1A2E45">
              <a:alpha val="80000"/>
            </a:srgbClr>
          </a:solidFill>
          <a:ln w="12700">
            <a:solidFill>
              <a:srgbClr val="028090"/>
            </a:solidFill>
            <a:prstDash val="solid"/>
          </a:ln>
        </p:spPr>
      </p:sp>
      <p:sp>
        <p:nvSpPr>
          <p:cNvPr id="8" name="Text 6"/>
          <p:cNvSpPr/>
          <p:nvPr/>
        </p:nvSpPr>
        <p:spPr>
          <a:xfrm>
            <a:off x="1097280" y="2029968"/>
            <a:ext cx="69494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Feature selection cut 91.6% of features with no AUC loss — leaner and faster model</a:t>
            </a:r>
            <a:endParaRPr lang="en-US" sz="1200" dirty="0"/>
          </a:p>
        </p:txBody>
      </p:sp>
      <p:sp>
        <p:nvSpPr>
          <p:cNvPr id="9" name="Shape 7"/>
          <p:cNvSpPr/>
          <p:nvPr/>
        </p:nvSpPr>
        <p:spPr>
          <a:xfrm>
            <a:off x="914400" y="2688336"/>
            <a:ext cx="7315200" cy="621792"/>
          </a:xfrm>
          <a:prstGeom prst="roundRect">
            <a:avLst>
              <a:gd name="adj" fmla="val 11765"/>
            </a:avLst>
          </a:prstGeom>
          <a:solidFill>
            <a:srgbClr val="1A2E45">
              <a:alpha val="80000"/>
            </a:srgbClr>
          </a:solidFill>
          <a:ln w="12700">
            <a:solidFill>
              <a:srgbClr val="028090"/>
            </a:solidFill>
            <a:prstDash val="solid"/>
          </a:ln>
        </p:spPr>
      </p:sp>
      <p:sp>
        <p:nvSpPr>
          <p:cNvPr id="10" name="Text 8"/>
          <p:cNvSpPr/>
          <p:nvPr/>
        </p:nvSpPr>
        <p:spPr>
          <a:xfrm>
            <a:off x="1097280" y="2779776"/>
            <a:ext cx="69494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Model saves Finex Bank $402,471/month = ~$4.83 million/year in fraud losses</a:t>
            </a:r>
            <a:endParaRPr lang="en-US" sz="1200" dirty="0"/>
          </a:p>
        </p:txBody>
      </p:sp>
      <p:sp>
        <p:nvSpPr>
          <p:cNvPr id="11" name="Shape 9"/>
          <p:cNvSpPr/>
          <p:nvPr/>
        </p:nvSpPr>
        <p:spPr>
          <a:xfrm>
            <a:off x="914400" y="3438144"/>
            <a:ext cx="7315200" cy="621792"/>
          </a:xfrm>
          <a:prstGeom prst="roundRect">
            <a:avLst>
              <a:gd name="adj" fmla="val 11765"/>
            </a:avLst>
          </a:prstGeom>
          <a:solidFill>
            <a:srgbClr val="1A2E45">
              <a:alpha val="80000"/>
            </a:srgbClr>
          </a:solidFill>
          <a:ln w="12700">
            <a:solidFill>
              <a:srgbClr val="028090"/>
            </a:solidFill>
            <a:prstDash val="solid"/>
          </a:ln>
        </p:spPr>
      </p:sp>
      <p:sp>
        <p:nvSpPr>
          <p:cNvPr id="12" name="Text 10"/>
          <p:cNvSpPr/>
          <p:nvPr/>
        </p:nvSpPr>
        <p:spPr>
          <a:xfrm>
            <a:off x="1097280" y="3529584"/>
            <a:ext cx="69494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Accuracy is misleading for imbalanced data — F1 and AUC are the right metrics</a:t>
            </a:r>
            <a:endParaRPr lang="en-US" sz="1200" dirty="0"/>
          </a:p>
        </p:txBody>
      </p:sp>
      <p:sp>
        <p:nvSpPr>
          <p:cNvPr id="13" name="Shape 11"/>
          <p:cNvSpPr/>
          <p:nvPr/>
        </p:nvSpPr>
        <p:spPr>
          <a:xfrm>
            <a:off x="914400" y="4187952"/>
            <a:ext cx="7315200" cy="621792"/>
          </a:xfrm>
          <a:prstGeom prst="roundRect">
            <a:avLst>
              <a:gd name="adj" fmla="val 11765"/>
            </a:avLst>
          </a:prstGeom>
          <a:solidFill>
            <a:srgbClr val="1A2E45">
              <a:alpha val="80000"/>
            </a:srgbClr>
          </a:solidFill>
          <a:ln w="12700">
            <a:solidFill>
              <a:srgbClr val="028090"/>
            </a:solidFill>
            <a:prstDash val="solid"/>
          </a:ln>
        </p:spPr>
      </p:sp>
      <p:sp>
        <p:nvSpPr>
          <p:cNvPr id="14" name="Text 12"/>
          <p:cNvSpPr/>
          <p:nvPr/>
        </p:nvSpPr>
        <p:spPr>
          <a:xfrm>
            <a:off x="1097280" y="4279392"/>
            <a:ext cx="69494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SMOTE consistently outperformed class weighting across all model architectures</a:t>
            </a:r>
            <a:endParaRPr lang="en-US" sz="1200" dirty="0"/>
          </a:p>
        </p:txBody>
      </p:sp>
      <p:sp>
        <p:nvSpPr>
          <p:cNvPr id="15" name="Text 13"/>
          <p:cNvSpPr/>
          <p:nvPr/>
        </p:nvSpPr>
        <p:spPr>
          <a:xfrm>
            <a:off x="914400" y="4663440"/>
            <a:ext cx="7315200" cy="320040"/>
          </a:xfrm>
          <a:prstGeom prst="rect">
            <a:avLst/>
          </a:prstGeom>
          <a:noFill/>
          <a:ln/>
        </p:spPr>
        <p:txBody>
          <a:bodyPr wrap="square" lIns="0" tIns="0" rIns="0" bIns="0" rtlCol="0" anchor="ctr"/>
          <a:lstStyle/>
          <a:p>
            <a:pPr algn="ctr" indent="0" marL="0">
              <a:buNone/>
            </a:pPr>
            <a:r>
              <a:rPr lang="en-US" sz="1400" dirty="0">
                <a:solidFill>
                  <a:srgbClr val="02C39A"/>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 Finex Bank</dc:title>
  <dc:subject>PptxGenJS Presentation</dc:subject>
  <dc:creator>PptxGenJS</dc:creator>
  <cp:lastModifiedBy>PptxGenJS</cp:lastModifiedBy>
  <cp:revision>1</cp:revision>
  <dcterms:created xsi:type="dcterms:W3CDTF">2026-06-22T11:58:36Z</dcterms:created>
  <dcterms:modified xsi:type="dcterms:W3CDTF">2026-06-22T11:58:36Z</dcterms:modified>
</cp:coreProperties>
</file>